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6" r:id="rId2"/>
    <p:sldMasterId id="2147483740" r:id="rId3"/>
    <p:sldMasterId id="2147483769" r:id="rId4"/>
    <p:sldMasterId id="2147483815" r:id="rId5"/>
  </p:sldMasterIdLst>
  <p:notesMasterIdLst>
    <p:notesMasterId r:id="rId44"/>
  </p:notesMasterIdLst>
  <p:sldIdLst>
    <p:sldId id="256" r:id="rId6"/>
    <p:sldId id="257" r:id="rId7"/>
    <p:sldId id="323" r:id="rId8"/>
    <p:sldId id="262" r:id="rId9"/>
    <p:sldId id="275" r:id="rId10"/>
    <p:sldId id="271" r:id="rId11"/>
    <p:sldId id="265" r:id="rId12"/>
    <p:sldId id="259" r:id="rId13"/>
    <p:sldId id="272" r:id="rId14"/>
    <p:sldId id="269" r:id="rId15"/>
    <p:sldId id="264" r:id="rId16"/>
    <p:sldId id="267" r:id="rId17"/>
    <p:sldId id="279" r:id="rId18"/>
    <p:sldId id="280" r:id="rId19"/>
    <p:sldId id="286" r:id="rId20"/>
    <p:sldId id="284" r:id="rId21"/>
    <p:sldId id="288" r:id="rId22"/>
    <p:sldId id="289" r:id="rId23"/>
    <p:sldId id="320" r:id="rId24"/>
    <p:sldId id="319" r:id="rId25"/>
    <p:sldId id="287" r:id="rId26"/>
    <p:sldId id="317" r:id="rId27"/>
    <p:sldId id="315" r:id="rId28"/>
    <p:sldId id="294" r:id="rId29"/>
    <p:sldId id="283" r:id="rId30"/>
    <p:sldId id="298" r:id="rId31"/>
    <p:sldId id="297" r:id="rId32"/>
    <p:sldId id="310" r:id="rId33"/>
    <p:sldId id="312" r:id="rId34"/>
    <p:sldId id="311" r:id="rId35"/>
    <p:sldId id="309" r:id="rId36"/>
    <p:sldId id="307" r:id="rId37"/>
    <p:sldId id="308" r:id="rId38"/>
    <p:sldId id="324" r:id="rId39"/>
    <p:sldId id="325" r:id="rId40"/>
    <p:sldId id="299" r:id="rId41"/>
    <p:sldId id="321" r:id="rId42"/>
    <p:sldId id="291" r:id="rId4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Stile con tema 1 - Color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452" autoAdjust="0"/>
  </p:normalViewPr>
  <p:slideViewPr>
    <p:cSldViewPr snapToGrid="0">
      <p:cViewPr varScale="1">
        <p:scale>
          <a:sx n="79" d="100"/>
          <a:sy n="79" d="100"/>
        </p:scale>
        <p:origin x="84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8519D-6607-4D97-9EF7-0517801195CC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AAF3A-C71A-4787-8630-C60ECD41EB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38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965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6216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04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471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800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300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003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416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CD38-146E-42A3-255A-0128EF0A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EA0F518-D770-9A60-AE10-2DFC1ED7D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CF82B5-70C0-479F-9B53-01B35C6E8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9012AE-20C4-9268-40D8-67F231619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0AAF3A-C71A-4787-8630-C60ECD41EB84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002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A7DF-C4F0-B1C3-91E0-34B5B4D7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AB1440-7077-DB14-52F2-6F8238369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A2FD4A-454C-ACED-8771-401D472AE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8F4A11-DD92-EABE-2222-F9890B9DC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0AAF3A-C71A-4787-8630-C60ECD41EB84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658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364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6010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0748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324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2088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67C8-9C91-9654-DFA3-48B4841F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6C0A51-A97D-27D1-03C3-0571B43A4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25AF5FB-1B26-7DBC-E7CD-0342309D3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1FBA2E-0C9F-F861-1137-FD96D4C19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6868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5A2B-7372-9F74-B6A1-67F4512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D885C1-8F1B-309A-71F8-EC9039EEF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6E1E14-9FB8-CFCD-0341-082B4B6BF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6BA364-623E-AE42-CD95-2E30F1E0F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8504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1075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4952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AF3A-C71A-4787-8630-C60ECD41EB8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7654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D6F600-33E0-3CF3-8663-49D36DFC6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1D80B6-6BE5-C586-356B-5CFDC52C7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B7E54B-8828-BD14-E2C4-B92B1761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7F545A-0A9B-81D4-C839-A187C657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80A908-E72B-ACC3-4353-AD0170F3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175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002B55-00FB-CEB7-2B18-0EB5250C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2AA8D1-471E-5706-A297-680668B6F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05A342-85EF-9CEC-4154-CE8A395F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14461F-4268-C19A-EE4B-76FDD07A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F89CFD-1F3C-F0E7-66FF-6CDC1D55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66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879C09-7591-12BC-7196-9F2CAC7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BB1D94-7D10-5480-7968-15FEB625F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C30AB4-6CCC-7BBA-CD6A-A142CE33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753932-D99B-2D35-D1C8-0758F640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D175DE-C27C-E8D0-37F9-7594AA4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78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085C23-F3D4-6606-CA64-8D4727A5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F82606-57D0-5CA3-DC70-254D7903E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094EDF-71F7-3747-9B10-C7D04F2AE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FA52415-9348-6F7E-7D01-294DDFFD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032229-5C9B-08C6-10DB-D5F735E3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89A1393-B721-B628-0F0E-78511CA7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322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FF425C-8E37-F0E7-7E69-8257226C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AE8DB5-8A85-9E3D-1AA6-A2320B0DB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3D587C6-5BAC-A2AA-597C-D8EA0FD7B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EEF4076-0A18-ECB4-D100-D6FFA1C3B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F541953-232D-19A2-9771-BE7A8EC1C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9FFACD-92AA-42D8-A7BB-D9370CCD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7030907-8D6E-C54F-52A1-839913B0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78EFF2E-D463-46C3-57E5-1F7C4D2A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75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71438F-D61B-2D6F-1840-42F664DF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A8C7E0-E654-E48B-8D78-CC511F05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4E74C6-2A18-89AA-31A6-E67E7F75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C95D36-2470-CA7E-8FD2-24DD6F19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7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F552254-F660-0025-6E7A-458A76D0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0C868C1-A925-6077-233B-EF84C978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83F1DB-FE0F-23C4-C6D6-0F2042A9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085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926AB-E334-C82D-B8F2-D41BA422E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609B5F-20BD-1CA2-7465-D3225DE46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F53319D-4D81-C799-82E9-2EA73010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3BE6AEB-5ABE-1DAF-C0B2-BD4C7744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910E310-C367-B4B3-89D5-AE413F4A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7037A6-275A-3487-7A60-A28E594A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625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623B14-1137-1E43-981E-55E3E731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F85F698-BC16-ED3E-3394-823949051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D19A91-0A2E-6C81-E05B-B4874441C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1A2E41-C85D-B728-FD3B-ED1222B5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322E16-3543-DD5C-8DA0-050F6783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7B260A-2703-EF3D-2165-B8206BEA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890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78B28-98ED-6DB6-FA4B-3370D186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A631CD6-91F7-A272-B3EF-674DC6A92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C05FFA-8C1F-DAF4-4D58-6034B5BC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186C42-29FA-390B-375F-A3A912D3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8EA76D-801A-F7ED-D68E-892097FA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259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8094AA2-8790-052B-631C-DA4406FB1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9830EAF-EAFA-2C3F-7BD2-6BF8F83BD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AE2F5F-17CF-34BA-B252-95522060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916799-8638-FF5F-A7CF-1B0D31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C188DB-2FCF-9A2E-6F58-6DD8EA09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521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5052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2746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5282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07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0819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526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32153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1591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282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629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3481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3747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65117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4825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5252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2058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21917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38234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01657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587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3765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7061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86966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36202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81671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507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0275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3814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45191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05027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33170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7050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79A70A-E56F-0273-591D-E0A047DCF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62349E6-A328-0985-918F-616D2AFC5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A40B1D-C95B-2190-1176-113A44E98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A5AED5-05DB-5857-BFFA-1E946284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7239DD-EFFA-4564-DC7F-FAB79D78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51669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4412B9-67DF-F8F7-896C-FC526B1A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541EB5-4B1A-235B-6AE1-8E46D502B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11663B-42C3-1C17-952A-342FF469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6CDEF5-C3BE-AE6A-0BBE-D204A444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52E96B-E961-0782-B24C-8F127C21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64345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6F3A3-D523-049A-E69A-76485081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8DC4BD-E437-2F12-2A76-9693DE30D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7CEBD3-7AB6-BBAB-183A-49C8532B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9DDB5D-30BE-D55E-A47E-45598952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9B945E-C379-A3B0-2063-D9D0C3D1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89197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B87222-AC38-BF15-2A24-414619DC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A22BF2-30C7-FF0D-4439-629DCDC19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D7B84FD-D18C-3407-DD7A-408B15F64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1E4BE21-AA76-E57F-4040-CC66709B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B1F8FE7-27BE-710F-FB13-E1D0989C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E06DF19-0728-692F-17EA-654E1B1A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5590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AA804-4236-9701-F196-CEA820E6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E1C754-F2CE-684A-5CF4-793F5AD34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E5C915-2AB3-589D-0546-ADD4CF4E8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4C276B5-75D6-1EFD-CDFB-CA858D719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722A652-7781-DD41-F063-F064446AA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274B021-A27A-FC38-84BA-3209AC10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B42BEA7-88AF-DE47-2E15-BD802A0A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E7CDAAE-087F-581C-100D-F7D103E6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7061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2B6073-9D79-2A1B-DB7D-0C90B9E7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F15614E-3FC6-5541-DEF0-D74B950D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66E343-C683-1F63-AE81-103B61B6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1C638E5-37A6-D2A7-15E7-AECF3BDF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0076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941B16A-D045-1B75-22FC-AD96B7A0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607389F-D11E-7BD6-25A5-7708490C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728032-1BF9-5E89-EAA6-614B32A2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3641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23C48D-826D-BBFC-F2F1-AE0B81F3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2FBD7E-ECD9-FB64-5963-BB2F6011F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5BA63F2-27C8-8F1A-6AC9-0F8C9DF32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7A0A16-3B39-01A1-2458-82992E2B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B94582-BB21-C4FC-FB4A-84A65D72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A4E241-F15E-689D-4159-7ED4C3D3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65120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ECF3A-B552-4FA6-9C2C-5F812BC0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B8BEEC9-DC34-EE18-C073-76F9DE446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7CF14ED-9187-EC4B-9CE2-05D6C058F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7EFF939-9951-9110-A336-EB00F3C6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5780E0-C3D0-5357-409D-EB1A5D3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9F5546-E5A0-0B38-81CB-3E850EE9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9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B3452-1C3E-08CA-7E07-9AF24FC1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311C3E9-9447-A9A7-25A5-A9ECED116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37765B-581D-7384-4ED8-307CFA5D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604059-D5CE-CAC1-4E7B-179EB293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607D74-645C-3BBF-E8E9-7A73DB20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7628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5E18A7-8974-645D-5A87-5408A0047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7B2DD9D-D7FC-BB81-6384-FC2ECD3CF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716D89-6B00-90F2-8EEF-B174FEB5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CDAE64-D2D6-447F-B1A3-8236F51F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FC45C7-E061-C892-4B83-01D4632D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6224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0950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6745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0589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30865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54090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46813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78979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1131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5875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9457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9805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758409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4776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55178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75679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22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C9C7058-3953-D208-91D7-737CFF1E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8F68FF-D897-5D0A-A850-87A55DD8B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50DCE3-8191-6D31-0C55-B8FF7CB3E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7ABB0F-7B7F-1225-028D-6D5B6BF1C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D6FF99-111F-E65F-3C45-A588D38C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298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536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55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DDE9268-5995-8A41-C26C-E13FBDC6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81B924-3C66-477C-8D8A-B242A991F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23955C-8091-4864-A933-A90D3337C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7EA5FB-0A9E-7CFA-4E66-6B26B496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FD66E1-D5E6-B3EE-B3EF-ED70AAD0F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485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726A8-1B25-45B4-BD66-CC23DD171B70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BC0005-95F6-454F-8E6A-8B2B4ED667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235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jpg"/><Relationship Id="rId5" Type="http://schemas.openxmlformats.org/officeDocument/2006/relationships/image" Target="../media/image43.png"/><Relationship Id="rId10" Type="http://schemas.openxmlformats.org/officeDocument/2006/relationships/image" Target="../media/image48.jpg"/><Relationship Id="rId4" Type="http://schemas.openxmlformats.org/officeDocument/2006/relationships/image" Target="../media/image42.jpg"/><Relationship Id="rId9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77.jpg"/><Relationship Id="rId5" Type="http://schemas.openxmlformats.org/officeDocument/2006/relationships/image" Target="../media/image76.png"/><Relationship Id="rId4" Type="http://schemas.openxmlformats.org/officeDocument/2006/relationships/image" Target="../media/image7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xilinx.com/r/en-US/ug1085-zynq-ultrascale-trm/Zynq-UltraScale-Device-Technical-Reference-Manua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ocs.amd.com/r/en-US/ug1087-zynq-ultrascale-registers/ZDMA-Module" TargetMode="External"/><Relationship Id="rId4" Type="http://schemas.openxmlformats.org/officeDocument/2006/relationships/hyperlink" Target="https://docs.xilinx.com/v/u/en-US/ug1267-zcu104-eval-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Mano di legno che tiene una matita">
            <a:extLst>
              <a:ext uri="{FF2B5EF4-FFF2-40B4-BE49-F238E27FC236}">
                <a16:creationId xmlns:a16="http://schemas.microsoft.com/office/drawing/2014/main" id="{0BD9D5F2-FCE4-8B46-E2B9-78CA3671CC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7855" r="-1" b="7854"/>
          <a:stretch>
            <a:fillRect/>
          </a:stretch>
        </p:blipFill>
        <p:spPr>
          <a:xfrm>
            <a:off x="3070" y="10"/>
            <a:ext cx="1218893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85DA52-9A62-9DD2-3021-1C0930FFD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00162" cy="2566755"/>
          </a:xfrm>
        </p:spPr>
        <p:txBody>
          <a:bodyPr>
            <a:normAutofit/>
          </a:bodyPr>
          <a:lstStyle/>
          <a:p>
            <a:r>
              <a:rPr lang="en-US" sz="5100" dirty="0">
                <a:solidFill>
                  <a:schemeClr val="bg1"/>
                </a:solidFill>
                <a:latin typeface="Century Gothic" panose="020B0502020202020204" pitchFamily="34" charset="0"/>
              </a:rPr>
              <a:t>PAC-MAC : Fine Grained Memory Access Control for Inter-VM Communication</a:t>
            </a:r>
            <a:endParaRPr lang="it-IT" sz="5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1617334-B4AB-BFA9-1117-918B1E1C3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Course of Real Time Systems and Industrial Applications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AC16AC-F1DF-C077-CD50-113D8668FD0E}"/>
              </a:ext>
            </a:extLst>
          </p:cNvPr>
          <p:cNvSpPr txBox="1"/>
          <p:nvPr/>
        </p:nvSpPr>
        <p:spPr>
          <a:xfrm>
            <a:off x="3673827" y="5272116"/>
            <a:ext cx="401083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Students : </a:t>
            </a:r>
          </a:p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Giuseppe Alfieri M63001675</a:t>
            </a:r>
          </a:p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Domenico Coppola M63001695</a:t>
            </a:r>
          </a:p>
          <a:p>
            <a:pPr>
              <a:spcAft>
                <a:spcPts val="600"/>
              </a:spcAft>
            </a:pP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4D165A2-0B82-D0F5-54D6-D092E52FA340}"/>
              </a:ext>
            </a:extLst>
          </p:cNvPr>
          <p:cNvSpPr txBox="1"/>
          <p:nvPr/>
        </p:nvSpPr>
        <p:spPr>
          <a:xfrm>
            <a:off x="8920265" y="5272116"/>
            <a:ext cx="2986390" cy="11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Tutors</a:t>
            </a:r>
          </a:p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Giorgio Farina</a:t>
            </a:r>
          </a:p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entury Gothic" panose="020B0502020202020204" pitchFamily="34" charset="0"/>
              </a:rPr>
              <a:t>Francesco Pizzo</a:t>
            </a:r>
          </a:p>
        </p:txBody>
      </p:sp>
    </p:spTree>
    <p:extLst>
      <p:ext uri="{BB962C8B-B14F-4D97-AF65-F5344CB8AC3E}">
        <p14:creationId xmlns:p14="http://schemas.microsoft.com/office/powerpoint/2010/main" val="263864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8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8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8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8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8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28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ersona con idea">
            <a:extLst>
              <a:ext uri="{FF2B5EF4-FFF2-40B4-BE49-F238E27FC236}">
                <a16:creationId xmlns:a16="http://schemas.microsoft.com/office/drawing/2014/main" id="{7874126D-06B0-3077-F03C-77D67D30A7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636" r="8622" b="12361"/>
          <a:stretch>
            <a:fillRect/>
          </a:stretch>
        </p:blipFill>
        <p:spPr>
          <a:xfrm>
            <a:off x="20" y="29194"/>
            <a:ext cx="12191980" cy="685799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6838E19-D6FE-AD7A-5765-9BE1A35E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16" y="501340"/>
            <a:ext cx="10515600" cy="1259394"/>
          </a:xfrm>
        </p:spPr>
        <p:txBody>
          <a:bodyPr>
            <a:normAutofit/>
          </a:bodyPr>
          <a:lstStyle/>
          <a:p>
            <a:r>
              <a:rPr lang="it-IT" sz="4000" dirty="0"/>
              <a:t>Short Summary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B83D0E-0C23-8183-D4AF-2B1739C7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8420" y="1637882"/>
            <a:ext cx="6149591" cy="4401391"/>
          </a:xfrm>
        </p:spPr>
        <p:txBody>
          <a:bodyPr>
            <a:normAutofit/>
          </a:bodyPr>
          <a:lstStyle/>
          <a:p>
            <a:r>
              <a:rPr lang="it-IT" sz="2400" dirty="0"/>
              <a:t>Virtio issues</a:t>
            </a:r>
          </a:p>
          <a:p>
            <a:r>
              <a:rPr lang="it-IT" sz="2400" dirty="0"/>
              <a:t>High/Low Level Architecture</a:t>
            </a:r>
          </a:p>
          <a:p>
            <a:r>
              <a:rPr lang="it-IT" sz="2400" dirty="0"/>
              <a:t>FPD-DMA features</a:t>
            </a:r>
          </a:p>
          <a:p>
            <a:r>
              <a:rPr lang="it-IT" sz="2400" dirty="0"/>
              <a:t>Jailhouse configuration</a:t>
            </a:r>
          </a:p>
          <a:p>
            <a:r>
              <a:rPr lang="it-IT" sz="2400" dirty="0"/>
              <a:t>Design FPGA</a:t>
            </a:r>
          </a:p>
          <a:p>
            <a:r>
              <a:rPr lang="it-IT" sz="2400" dirty="0"/>
              <a:t>System Analysis </a:t>
            </a:r>
          </a:p>
          <a:p>
            <a:r>
              <a:rPr lang="it-IT" sz="2400" dirty="0"/>
              <a:t>References</a:t>
            </a:r>
          </a:p>
          <a:p>
            <a:endParaRPr lang="it-IT" dirty="0"/>
          </a:p>
        </p:txBody>
      </p:sp>
      <p:pic>
        <p:nvPicPr>
          <p:cNvPr id="8" name="Elemento grafico 7" descr="Strada con due vie con un sentiero contorno">
            <a:extLst>
              <a:ext uri="{FF2B5EF4-FFF2-40B4-BE49-F238E27FC236}">
                <a16:creationId xmlns:a16="http://schemas.microsoft.com/office/drawing/2014/main" id="{815304C8-8273-0941-EA8B-FBE252E67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16" y="3061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2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FCC18-7713-9755-2DC0-5BB5782F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1A4C67-DC35-E3F5-A3A2-9A00794A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3396E3-8E54-CD0E-CE11-AB8B7B7F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46" y="564376"/>
            <a:ext cx="6574536" cy="7138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VIRTIO </a:t>
            </a:r>
            <a:r>
              <a:rPr lang="en-US" dirty="0"/>
              <a:t>limitations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23AA1C-8BFB-5E16-B7AE-3FDFD1870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Segnaposto contenuto 3">
            <a:extLst>
              <a:ext uri="{FF2B5EF4-FFF2-40B4-BE49-F238E27FC236}">
                <a16:creationId xmlns:a16="http://schemas.microsoft.com/office/drawing/2014/main" id="{577E3FB4-920F-DF62-7C61-BC9FF6E75C5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95140" y="1486985"/>
            <a:ext cx="6912864" cy="43655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In classical VIRTIO scheme the back-end has unrestricted access to all VM Memory. </a:t>
            </a:r>
          </a:p>
          <a:p>
            <a:r>
              <a:rPr lang="it-IT" dirty="0"/>
              <a:t>Also the backend typically is developed on a priviled VM</a:t>
            </a:r>
          </a:p>
          <a:p>
            <a:r>
              <a:rPr lang="it-IT" dirty="0"/>
              <a:t>This two points could be very dangerous for security</a:t>
            </a:r>
          </a:p>
          <a:p>
            <a:pPr lvl="1"/>
            <a:r>
              <a:rPr lang="it-IT" dirty="0"/>
              <a:t>The backend could be malicious and could harm the VM host</a:t>
            </a:r>
          </a:p>
          <a:p>
            <a:r>
              <a:rPr lang="it-IT" dirty="0"/>
              <a:t>The idea of Mutual distrust model is :</a:t>
            </a:r>
          </a:p>
          <a:p>
            <a:pPr lvl="1"/>
            <a:r>
              <a:rPr lang="it-IT" dirty="0"/>
              <a:t>Devolop the backend on an</a:t>
            </a:r>
            <a:r>
              <a:rPr lang="it-IT" b="1" dirty="0"/>
              <a:t> Unpriviled </a:t>
            </a:r>
            <a:r>
              <a:rPr lang="it-IT" dirty="0"/>
              <a:t>VM</a:t>
            </a:r>
          </a:p>
          <a:p>
            <a:pPr lvl="1"/>
            <a:r>
              <a:rPr lang="it-IT" b="1" dirty="0"/>
              <a:t>Restrict </a:t>
            </a:r>
            <a:r>
              <a:rPr lang="it-IT" dirty="0"/>
              <a:t>the access of backend to VM memory to predefined sections</a:t>
            </a:r>
          </a:p>
          <a:p>
            <a:pPr marL="457200" lvl="1" indent="0">
              <a:buNone/>
            </a:pPr>
            <a:endParaRPr lang="it-IT" b="1" dirty="0"/>
          </a:p>
        </p:txBody>
      </p:sp>
      <p:pic>
        <p:nvPicPr>
          <p:cNvPr id="4" name="Elemento grafico 3" descr="Scudo con segno di spunta con riempimento a tinta unita">
            <a:extLst>
              <a:ext uri="{FF2B5EF4-FFF2-40B4-BE49-F238E27FC236}">
                <a16:creationId xmlns:a16="http://schemas.microsoft.com/office/drawing/2014/main" id="{FF9B08C3-809D-0718-F1C7-4212BB565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2088" y="1278252"/>
            <a:ext cx="3981455" cy="3981455"/>
          </a:xfrm>
          <a:prstGeom prst="rect">
            <a:avLst/>
          </a:prstGeom>
        </p:spPr>
      </p:pic>
      <p:sp>
        <p:nvSpPr>
          <p:cNvPr id="20" name="Freeform 11">
            <a:extLst>
              <a:ext uri="{FF2B5EF4-FFF2-40B4-BE49-F238E27FC236}">
                <a16:creationId xmlns:a16="http://schemas.microsoft.com/office/drawing/2014/main" id="{49D073A7-F4A5-D281-DD8F-14476861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3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9BD230D-0708-4782-93C2-6421485ED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30D25A-547E-4D17-B65E-FA2B88893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F39C56FC-EE04-4CE0-8DE2-736A201E9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CA39BC73-7A72-68CD-B064-B57B2442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27" y="189288"/>
            <a:ext cx="4763102" cy="71387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Software solutions (1)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FB146764-CBB2-A2CE-7DE2-8F63D770FD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9278" y="1073027"/>
            <a:ext cx="5418993" cy="345671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In Dec 2024 it was presented </a:t>
            </a:r>
            <a:r>
              <a:rPr lang="it-IT" b="1" dirty="0"/>
              <a:t>BiRtIO</a:t>
            </a:r>
            <a:r>
              <a:rPr lang="it-IT" dirty="0"/>
              <a:t>, a software architecture where:</a:t>
            </a:r>
          </a:p>
          <a:p>
            <a:pPr lvl="1"/>
            <a:r>
              <a:rPr lang="it-IT" b="1" dirty="0"/>
              <a:t>Bao </a:t>
            </a:r>
            <a:r>
              <a:rPr lang="it-IT" dirty="0"/>
              <a:t>Static Paritioning hypervisor is modified to allow the requests forwarding between </a:t>
            </a:r>
            <a:r>
              <a:rPr lang="it-IT" b="1" dirty="0"/>
              <a:t>front-end VM </a:t>
            </a:r>
            <a:r>
              <a:rPr lang="it-IT" dirty="0"/>
              <a:t>and </a:t>
            </a:r>
            <a:r>
              <a:rPr lang="it-IT" b="1" dirty="0"/>
              <a:t>back-end VM</a:t>
            </a:r>
            <a:r>
              <a:rPr lang="it-IT" dirty="0"/>
              <a:t>, which executes I/O operations</a:t>
            </a:r>
          </a:p>
          <a:p>
            <a:pPr lvl="1"/>
            <a:r>
              <a:rPr lang="en-US" dirty="0"/>
              <a:t>Back-end and Front-end communicate via </a:t>
            </a:r>
            <a:r>
              <a:rPr lang="en-US" b="1" dirty="0"/>
              <a:t>Shared memory.</a:t>
            </a:r>
          </a:p>
          <a:p>
            <a:pPr lvl="1"/>
            <a:r>
              <a:rPr lang="en-US" dirty="0"/>
              <a:t>The</a:t>
            </a:r>
            <a:r>
              <a:rPr lang="en-US" b="1" dirty="0"/>
              <a:t> Bounce-Buffers </a:t>
            </a:r>
            <a:r>
              <a:rPr lang="en-US" dirty="0"/>
              <a:t>are used to prevent the Front-end from allocating outside the shared memory.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1F9DA63-4602-EA37-21CF-F5EBCFC49777}"/>
              </a:ext>
            </a:extLst>
          </p:cNvPr>
          <p:cNvSpPr txBox="1"/>
          <p:nvPr/>
        </p:nvSpPr>
        <p:spPr>
          <a:xfrm>
            <a:off x="1038035" y="6260693"/>
            <a:ext cx="1115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u="sng" dirty="0">
                <a:latin typeface="Verdana" panose="020B0604030504040204" pitchFamily="34" charset="0"/>
                <a:ea typeface="Verdana" panose="020B0604030504040204" pitchFamily="34" charset="0"/>
              </a:rPr>
              <a:t>Reference : </a:t>
            </a:r>
            <a:r>
              <a:rPr lang="it-IT" sz="1400" u="sng" dirty="0">
                <a:latin typeface="Verdana" panose="020B0604030504040204" pitchFamily="34" charset="0"/>
                <a:ea typeface="Verdana" panose="020B0604030504040204" pitchFamily="34" charset="0"/>
              </a:rPr>
              <a:t>J. Peixoto</a:t>
            </a:r>
            <a:r>
              <a:rPr lang="pt-BR" sz="1400" u="sng" dirty="0">
                <a:latin typeface="Verdana" panose="020B0604030504040204" pitchFamily="34" charset="0"/>
                <a:ea typeface="Verdana" panose="020B0604030504040204" pitchFamily="34" charset="0"/>
              </a:rPr>
              <a:t>, J. Martins, D. Cerdeira, S. Pinto</a:t>
            </a:r>
            <a:r>
              <a:rPr lang="en-US" sz="1400" u="sng" dirty="0">
                <a:latin typeface="Verdana" panose="020B0604030504040204" pitchFamily="34" charset="0"/>
                <a:ea typeface="Verdana" panose="020B0604030504040204" pitchFamily="34" charset="0"/>
              </a:rPr>
              <a:t>, “</a:t>
            </a:r>
            <a:r>
              <a:rPr lang="en-US" sz="1400" u="sng" dirty="0" err="1">
                <a:latin typeface="Verdana" panose="020B0604030504040204" pitchFamily="34" charset="0"/>
                <a:ea typeface="Verdana" panose="020B0604030504040204" pitchFamily="34" charset="0"/>
              </a:rPr>
              <a:t>BiRtIO</a:t>
            </a:r>
            <a:r>
              <a:rPr lang="en-US" sz="1400" u="sng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400" u="sng" dirty="0" err="1">
                <a:latin typeface="Verdana" panose="020B0604030504040204" pitchFamily="34" charset="0"/>
                <a:ea typeface="Verdana" panose="020B0604030504040204" pitchFamily="34" charset="0"/>
              </a:rPr>
              <a:t>VirtIO</a:t>
            </a:r>
            <a:r>
              <a:rPr lang="en-US" sz="1400" u="sng" dirty="0">
                <a:latin typeface="Verdana" panose="020B0604030504040204" pitchFamily="34" charset="0"/>
                <a:ea typeface="Verdana" panose="020B0604030504040204" pitchFamily="34" charset="0"/>
              </a:rPr>
              <a:t> for Real-Time Network Interface Sharing on the Bao Hypervisor”, Dec 2024.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90502A69-05AE-5EC2-974B-63AC39E25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669" y="754683"/>
            <a:ext cx="5820672" cy="4365504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F848FE-4922-E49F-8CDE-8431416A779D}"/>
              </a:ext>
            </a:extLst>
          </p:cNvPr>
          <p:cNvSpPr txBox="1"/>
          <p:nvPr/>
        </p:nvSpPr>
        <p:spPr>
          <a:xfrm>
            <a:off x="1921495" y="5428830"/>
            <a:ext cx="683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This solution is completely software-based and has some overhead due to copying data to bounce buffers.</a:t>
            </a:r>
            <a:endParaRPr lang="it-IT" sz="1400" b="1" dirty="0"/>
          </a:p>
        </p:txBody>
      </p:sp>
      <p:pic>
        <p:nvPicPr>
          <p:cNvPr id="3" name="Elemento grafico 2" descr="Lampadina con riempimento a tinta unita">
            <a:extLst>
              <a:ext uri="{FF2B5EF4-FFF2-40B4-BE49-F238E27FC236}">
                <a16:creationId xmlns:a16="http://schemas.microsoft.com/office/drawing/2014/main" id="{234E066C-0799-5BCD-CFA0-5FBC0C8C3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5414" y="5480150"/>
            <a:ext cx="387067" cy="4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4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FE3618-8387-4153-870E-99EA1B97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41B85E-E2DE-5B2A-A14D-5DF2A0C4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13" y="290500"/>
            <a:ext cx="5982688" cy="911331"/>
          </a:xfrm>
        </p:spPr>
        <p:txBody>
          <a:bodyPr>
            <a:normAutofit/>
          </a:bodyPr>
          <a:lstStyle/>
          <a:p>
            <a:r>
              <a:rPr lang="it-IT" dirty="0"/>
              <a:t>Software solutions (2)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9A42A-5548-4BB8-9115-A05821C36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8202AD-4116-9C66-02F1-A42FD89D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19" y="1337374"/>
            <a:ext cx="4435045" cy="3682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600" dirty="0"/>
              <a:t>A significative example of software solution is </a:t>
            </a:r>
            <a:r>
              <a:rPr lang="it-IT" sz="1600" b="1" dirty="0"/>
              <a:t>Grant tables </a:t>
            </a:r>
            <a:r>
              <a:rPr lang="it-IT" sz="1600" dirty="0"/>
              <a:t>in Xen hypervisor:</a:t>
            </a:r>
          </a:p>
          <a:p>
            <a:pPr lvl="1">
              <a:lnSpc>
                <a:spcPct val="90000"/>
              </a:lnSpc>
            </a:pPr>
            <a:r>
              <a:rPr lang="it-IT" dirty="0"/>
              <a:t>DomU chooses a page to share, updates the grant table (with permissions and so on..) and sends a grant reference (numeric id) to Dom0</a:t>
            </a:r>
          </a:p>
          <a:p>
            <a:pPr lvl="1">
              <a:lnSpc>
                <a:spcPct val="90000"/>
              </a:lnSpc>
            </a:pPr>
            <a:r>
              <a:rPr lang="it-IT" dirty="0"/>
              <a:t>Dom0 invokes the hypercall, using the grant reference, to request memory mapping to Xen </a:t>
            </a:r>
          </a:p>
          <a:p>
            <a:pPr lvl="1">
              <a:lnSpc>
                <a:spcPct val="90000"/>
              </a:lnSpc>
            </a:pPr>
            <a:r>
              <a:rPr lang="it-IT" dirty="0"/>
              <a:t>Xen checks the validity of permissions in Grant table and if so allocates the required memory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D49441E5-946F-46B3-BDD2-BAD08853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386196C8-E868-5019-9450-B890197A7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005" y="5577223"/>
            <a:ext cx="1890992" cy="115963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F4D0E73-6A2C-0F98-8BF1-BC070B74D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320" y="1493117"/>
            <a:ext cx="6974734" cy="3333615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BCAF16-85E8-DBBB-1C42-26391C5753B4}"/>
              </a:ext>
            </a:extLst>
          </p:cNvPr>
          <p:cNvSpPr txBox="1"/>
          <p:nvPr/>
        </p:nvSpPr>
        <p:spPr>
          <a:xfrm>
            <a:off x="2059615" y="5426228"/>
            <a:ext cx="6831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r>
              <a:rPr lang="en-US" sz="1400" b="1" dirty="0"/>
              <a:t>This solution is completely software-based and has a limitation due to the granularity at the "page" level.</a:t>
            </a:r>
            <a:endParaRPr lang="it-IT" sz="1400" b="1" dirty="0"/>
          </a:p>
        </p:txBody>
      </p:sp>
      <p:pic>
        <p:nvPicPr>
          <p:cNvPr id="5" name="Elemento grafico 4" descr="Lampadina con riempimento a tinta unita">
            <a:extLst>
              <a:ext uri="{FF2B5EF4-FFF2-40B4-BE49-F238E27FC236}">
                <a16:creationId xmlns:a16="http://schemas.microsoft.com/office/drawing/2014/main" id="{6D094A16-FF8A-F54A-5913-1AC9267E1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2548" y="5643742"/>
            <a:ext cx="387067" cy="4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0A696357-B315-4D9E-BB00-C5180F54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2F6C6C-999D-43D5-AC07-AF342514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0" name="Freeform 5">
            <a:extLst>
              <a:ext uri="{FF2B5EF4-FFF2-40B4-BE49-F238E27FC236}">
                <a16:creationId xmlns:a16="http://schemas.microsoft.com/office/drawing/2014/main" id="{EC04F56B-9315-467D-9EEF-52DE7F0B5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06BC14-D8FA-F640-B912-7813A097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it-IT" sz="3200" dirty="0">
                <a:solidFill>
                  <a:srgbClr val="FEFFFF"/>
                </a:solidFill>
                <a:latin typeface="Century Gothic" panose="020B0502020202020204" pitchFamily="34" charset="0"/>
              </a:rPr>
              <a:t>Project Proposal</a:t>
            </a:r>
            <a:endParaRPr lang="it-IT" sz="3200" dirty="0">
              <a:solidFill>
                <a:srgbClr val="FEFFFF"/>
              </a:solidFill>
            </a:endParaRPr>
          </a:p>
        </p:txBody>
      </p:sp>
      <p:sp>
        <p:nvSpPr>
          <p:cNvPr id="79" name="Segnaposto contenuto 78">
            <a:extLst>
              <a:ext uri="{FF2B5EF4-FFF2-40B4-BE49-F238E27FC236}">
                <a16:creationId xmlns:a16="http://schemas.microsoft.com/office/drawing/2014/main" id="{97FF958F-6575-4CF5-5C3B-E2D031CC4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38" y="1847253"/>
            <a:ext cx="7886500" cy="1057037"/>
          </a:xfrm>
        </p:spPr>
        <p:txBody>
          <a:bodyPr>
            <a:normAutofit fontScale="85000" lnSpcReduction="10000"/>
          </a:bodyPr>
          <a:lstStyle/>
          <a:p>
            <a:r>
              <a:rPr lang="it-IT" dirty="0">
                <a:solidFill>
                  <a:srgbClr val="FEFFFF"/>
                </a:solidFill>
              </a:rPr>
              <a:t>The purpose of this project </a:t>
            </a:r>
            <a:r>
              <a:rPr lang="it-IT" dirty="0" err="1">
                <a:solidFill>
                  <a:srgbClr val="FEFFFF"/>
                </a:solidFill>
              </a:rPr>
              <a:t>is</a:t>
            </a:r>
            <a:r>
              <a:rPr lang="it-IT" dirty="0">
                <a:solidFill>
                  <a:srgbClr val="FEFFFF"/>
                </a:solidFill>
              </a:rPr>
              <a:t> to </a:t>
            </a:r>
            <a:r>
              <a:rPr lang="it-IT" dirty="0" err="1">
                <a:solidFill>
                  <a:srgbClr val="FEFFFF"/>
                </a:solidFill>
              </a:rPr>
              <a:t>try</a:t>
            </a:r>
            <a:r>
              <a:rPr lang="it-IT" dirty="0">
                <a:solidFill>
                  <a:srgbClr val="FEFFFF"/>
                </a:solidFill>
              </a:rPr>
              <a:t> to address the limitations of software </a:t>
            </a:r>
            <a:r>
              <a:rPr lang="it-IT" dirty="0" err="1">
                <a:solidFill>
                  <a:srgbClr val="FEFFFF"/>
                </a:solidFill>
              </a:rPr>
              <a:t>implementations</a:t>
            </a:r>
            <a:r>
              <a:rPr lang="it-IT" dirty="0">
                <a:solidFill>
                  <a:srgbClr val="FEFFFF"/>
                </a:solidFill>
              </a:rPr>
              <a:t>, </a:t>
            </a:r>
            <a:r>
              <a:rPr lang="it-IT" dirty="0" err="1">
                <a:solidFill>
                  <a:srgbClr val="FEFFFF"/>
                </a:solidFill>
              </a:rPr>
              <a:t>moving</a:t>
            </a:r>
            <a:r>
              <a:rPr lang="it-IT" dirty="0">
                <a:solidFill>
                  <a:srgbClr val="FEFFFF"/>
                </a:solidFill>
              </a:rPr>
              <a:t> the </a:t>
            </a:r>
            <a:r>
              <a:rPr lang="it-IT" dirty="0" err="1">
                <a:solidFill>
                  <a:srgbClr val="FEFFFF"/>
                </a:solidFill>
              </a:rPr>
              <a:t>implementation</a:t>
            </a:r>
            <a:r>
              <a:rPr lang="it-IT" dirty="0">
                <a:solidFill>
                  <a:srgbClr val="FEFFFF"/>
                </a:solidFill>
              </a:rPr>
              <a:t> of the memory access control mechanism to hardware</a:t>
            </a:r>
          </a:p>
          <a:p>
            <a:r>
              <a:rPr lang="it-IT" dirty="0">
                <a:solidFill>
                  <a:srgbClr val="FEFFFF"/>
                </a:solidFill>
              </a:rPr>
              <a:t>The project will include a first prototype on ZCU104 (Zynq UltraScale + MPSOC)</a:t>
            </a:r>
          </a:p>
          <a:p>
            <a:endParaRPr lang="it-IT" dirty="0">
              <a:solidFill>
                <a:srgbClr val="FEFFFF"/>
              </a:solidFill>
            </a:endParaRPr>
          </a:p>
        </p:txBody>
      </p:sp>
      <p:sp>
        <p:nvSpPr>
          <p:cNvPr id="118" name="Rettangolo 117">
            <a:extLst>
              <a:ext uri="{FF2B5EF4-FFF2-40B4-BE49-F238E27FC236}">
                <a16:creationId xmlns:a16="http://schemas.microsoft.com/office/drawing/2014/main" id="{A5B2BA30-EA1C-3353-8E71-A069AE4EA1AF}"/>
              </a:ext>
            </a:extLst>
          </p:cNvPr>
          <p:cNvSpPr/>
          <p:nvPr/>
        </p:nvSpPr>
        <p:spPr>
          <a:xfrm>
            <a:off x="587530" y="3391696"/>
            <a:ext cx="2136236" cy="2532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Building of Jailhouse on PS of ZCU104 </a:t>
            </a:r>
          </a:p>
          <a:p>
            <a:pPr algn="ctr"/>
            <a:endParaRPr lang="it-IT" dirty="0"/>
          </a:p>
        </p:txBody>
      </p:sp>
      <p:sp>
        <p:nvSpPr>
          <p:cNvPr id="119" name="Rettangolo 118">
            <a:extLst>
              <a:ext uri="{FF2B5EF4-FFF2-40B4-BE49-F238E27FC236}">
                <a16:creationId xmlns:a16="http://schemas.microsoft.com/office/drawing/2014/main" id="{8A321DD3-B699-08CC-8A4E-8EE4C7A0A3FF}"/>
              </a:ext>
            </a:extLst>
          </p:cNvPr>
          <p:cNvSpPr/>
          <p:nvPr/>
        </p:nvSpPr>
        <p:spPr>
          <a:xfrm>
            <a:off x="3211498" y="3391695"/>
            <a:ext cx="2136236" cy="2500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Creation of bare metal non root cell, which will write or read on FPGA page via FPD-DMA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it-IT" dirty="0"/>
          </a:p>
        </p:txBody>
      </p:sp>
      <p:sp>
        <p:nvSpPr>
          <p:cNvPr id="120" name="Rettangolo 119">
            <a:extLst>
              <a:ext uri="{FF2B5EF4-FFF2-40B4-BE49-F238E27FC236}">
                <a16:creationId xmlns:a16="http://schemas.microsoft.com/office/drawing/2014/main" id="{005808B4-4B2F-2DB4-478D-3A6C277D4704}"/>
              </a:ext>
            </a:extLst>
          </p:cNvPr>
          <p:cNvSpPr/>
          <p:nvPr/>
        </p:nvSpPr>
        <p:spPr>
          <a:xfrm>
            <a:off x="5861521" y="3362955"/>
            <a:ext cx="2056836" cy="2528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FPGA Design which will  intercept and analyze the write/read request</a:t>
            </a:r>
          </a:p>
          <a:p>
            <a:pPr algn="ctr"/>
            <a:endParaRPr lang="it-IT" dirty="0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D9F709EF-3DC7-CA22-8AC4-EC0B98108A3E}"/>
              </a:ext>
            </a:extLst>
          </p:cNvPr>
          <p:cNvSpPr/>
          <p:nvPr/>
        </p:nvSpPr>
        <p:spPr>
          <a:xfrm>
            <a:off x="8717331" y="2275385"/>
            <a:ext cx="2932003" cy="1061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The request will be redirected on DRAM </a:t>
            </a:r>
          </a:p>
          <a:p>
            <a:pPr algn="ctr"/>
            <a:endParaRPr lang="it-IT" dirty="0"/>
          </a:p>
        </p:txBody>
      </p:sp>
      <p:sp>
        <p:nvSpPr>
          <p:cNvPr id="122" name="Rettangolo 121">
            <a:extLst>
              <a:ext uri="{FF2B5EF4-FFF2-40B4-BE49-F238E27FC236}">
                <a16:creationId xmlns:a16="http://schemas.microsoft.com/office/drawing/2014/main" id="{C259557B-5BCC-6F84-4A58-BBE4DDA85D11}"/>
              </a:ext>
            </a:extLst>
          </p:cNvPr>
          <p:cNvSpPr/>
          <p:nvPr/>
        </p:nvSpPr>
        <p:spPr>
          <a:xfrm>
            <a:off x="8688450" y="5726390"/>
            <a:ext cx="2989763" cy="977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it-IT" sz="1400" dirty="0">
                <a:solidFill>
                  <a:schemeClr val="tx1"/>
                </a:solidFill>
              </a:rPr>
              <a:t>The request will be blocked, and an error will be sent to PS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C1E2E7DA-D259-3157-E8CD-69B8A83CCEA9}"/>
              </a:ext>
            </a:extLst>
          </p:cNvPr>
          <p:cNvCxnSpPr>
            <a:cxnSpLocks/>
            <a:stCxn id="120" idx="3"/>
            <a:endCxn id="121" idx="2"/>
          </p:cNvCxnSpPr>
          <p:nvPr/>
        </p:nvCxnSpPr>
        <p:spPr>
          <a:xfrm flipV="1">
            <a:off x="7918357" y="3337265"/>
            <a:ext cx="2264976" cy="12900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941DE7DC-1FC5-4124-AA9D-16E3E37BF27F}"/>
              </a:ext>
            </a:extLst>
          </p:cNvPr>
          <p:cNvCxnSpPr>
            <a:cxnSpLocks/>
            <a:stCxn id="120" idx="3"/>
            <a:endCxn id="122" idx="0"/>
          </p:cNvCxnSpPr>
          <p:nvPr/>
        </p:nvCxnSpPr>
        <p:spPr>
          <a:xfrm>
            <a:off x="7918357" y="4627357"/>
            <a:ext cx="2264975" cy="10990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7" name="CasellaDiTesto 126">
            <a:extLst>
              <a:ext uri="{FF2B5EF4-FFF2-40B4-BE49-F238E27FC236}">
                <a16:creationId xmlns:a16="http://schemas.microsoft.com/office/drawing/2014/main" id="{CA58473F-63D7-6D91-6F6E-B8CF6D317BBD}"/>
              </a:ext>
            </a:extLst>
          </p:cNvPr>
          <p:cNvSpPr txBox="1"/>
          <p:nvPr/>
        </p:nvSpPr>
        <p:spPr>
          <a:xfrm>
            <a:off x="10183331" y="3533330"/>
            <a:ext cx="1840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Valid address</a:t>
            </a:r>
          </a:p>
        </p:txBody>
      </p:sp>
      <p:sp>
        <p:nvSpPr>
          <p:cNvPr id="128" name="CasellaDiTesto 127">
            <a:extLst>
              <a:ext uri="{FF2B5EF4-FFF2-40B4-BE49-F238E27FC236}">
                <a16:creationId xmlns:a16="http://schemas.microsoft.com/office/drawing/2014/main" id="{ECC14676-709B-7F42-EACE-3D4DD892CFC6}"/>
              </a:ext>
            </a:extLst>
          </p:cNvPr>
          <p:cNvSpPr txBox="1"/>
          <p:nvPr/>
        </p:nvSpPr>
        <p:spPr>
          <a:xfrm>
            <a:off x="10183331" y="5054942"/>
            <a:ext cx="2289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Invalid address</a:t>
            </a:r>
          </a:p>
        </p:txBody>
      </p:sp>
      <p:sp>
        <p:nvSpPr>
          <p:cNvPr id="134" name="Freccia a destra 133">
            <a:extLst>
              <a:ext uri="{FF2B5EF4-FFF2-40B4-BE49-F238E27FC236}">
                <a16:creationId xmlns:a16="http://schemas.microsoft.com/office/drawing/2014/main" id="{EED7DFC6-D0C0-144B-1857-A0EA2439397D}"/>
              </a:ext>
            </a:extLst>
          </p:cNvPr>
          <p:cNvSpPr/>
          <p:nvPr/>
        </p:nvSpPr>
        <p:spPr>
          <a:xfrm>
            <a:off x="4869400" y="5496126"/>
            <a:ext cx="1391055" cy="42763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5" name="Freccia a destra 134">
            <a:extLst>
              <a:ext uri="{FF2B5EF4-FFF2-40B4-BE49-F238E27FC236}">
                <a16:creationId xmlns:a16="http://schemas.microsoft.com/office/drawing/2014/main" id="{CC1BFD54-BD59-260D-EF01-D10B51D3A97C}"/>
              </a:ext>
            </a:extLst>
          </p:cNvPr>
          <p:cNvSpPr/>
          <p:nvPr/>
        </p:nvSpPr>
        <p:spPr>
          <a:xfrm>
            <a:off x="2213172" y="5496127"/>
            <a:ext cx="1391055" cy="39563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961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9BD230D-0708-4782-93C2-6421485ED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8E3DD2-966E-2D0E-96D6-70C4AD7B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80" y="170280"/>
            <a:ext cx="6574536" cy="6752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High Level Architecture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30D25A-547E-4D17-B65E-FA2B88893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9E15BA1-455F-8804-840B-545A9DC58488}"/>
              </a:ext>
            </a:extLst>
          </p:cNvPr>
          <p:cNvSpPr txBox="1"/>
          <p:nvPr/>
        </p:nvSpPr>
        <p:spPr>
          <a:xfrm>
            <a:off x="1411080" y="5618348"/>
            <a:ext cx="9055063" cy="114981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Thanks to Jailhouse the FPD-DMA will be allocated to DMA_CELL, which is a bare metal non root cell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CCI is responsible of cache coherence management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FPD-DMA doesn’t pass through CCI!!! 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39C56FC-EE04-4CE0-8DE2-736A201E9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lemento grafico 5" descr="Processore con riempimento a tinta unita">
            <a:extLst>
              <a:ext uri="{FF2B5EF4-FFF2-40B4-BE49-F238E27FC236}">
                <a16:creationId xmlns:a16="http://schemas.microsoft.com/office/drawing/2014/main" id="{3E08DB11-BACF-9210-94E9-E64464E9B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171" y="89841"/>
            <a:ext cx="845658" cy="84565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C6BF39A-9C60-A47F-0D87-AC69BE0BB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080" y="926005"/>
            <a:ext cx="9552719" cy="457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38C1E0-527A-04DF-0B07-C6A265BA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it-IT" sz="4000">
                <a:latin typeface="Century Gothic" panose="020B0502020202020204" pitchFamily="34" charset="0"/>
              </a:rPr>
              <a:t>FPD-DMA features</a:t>
            </a:r>
            <a:endParaRPr lang="it-IT" sz="4000" dirty="0">
              <a:latin typeface="Century Gothic" panose="020B0502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B00B7E-DE18-9DD0-C1F9-7EEA5307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30" y="2221992"/>
            <a:ext cx="11057624" cy="2807208"/>
          </a:xfrm>
        </p:spPr>
        <p:txBody>
          <a:bodyPr>
            <a:normAutofit/>
          </a:bodyPr>
          <a:lstStyle/>
          <a:p>
            <a:r>
              <a:rPr lang="it-IT" sz="1600" dirty="0">
                <a:latin typeface="Century Gothic" panose="020B0502020202020204" pitchFamily="34" charset="0"/>
              </a:rPr>
              <a:t>FPD-DMA (</a:t>
            </a:r>
            <a:r>
              <a:rPr lang="it-IT" sz="1600" b="1" dirty="0">
                <a:latin typeface="Century Gothic" panose="020B0502020202020204" pitchFamily="34" charset="0"/>
              </a:rPr>
              <a:t>full-power domain DMA</a:t>
            </a:r>
            <a:r>
              <a:rPr lang="it-IT" sz="1600" dirty="0">
                <a:latin typeface="Century Gothic" panose="020B0502020202020204" pitchFamily="34" charset="0"/>
              </a:rPr>
              <a:t>) is one of the two DMA masters that can be found </a:t>
            </a:r>
            <a:r>
              <a:rPr lang="it-IT" sz="1600" dirty="0" err="1">
                <a:latin typeface="Century Gothic" panose="020B0502020202020204" pitchFamily="34" charset="0"/>
              </a:rPr>
              <a:t>into</a:t>
            </a:r>
            <a:r>
              <a:rPr lang="it-IT" sz="1600" dirty="0">
                <a:latin typeface="Century Gothic" panose="020B0502020202020204" pitchFamily="34" charset="0"/>
              </a:rPr>
              <a:t> PS-side of ZCU104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It is part of the full-power domain, one of the two domains of MPSOC, which is </a:t>
            </a:r>
            <a:r>
              <a:rPr lang="it-IT" sz="1600" dirty="0" err="1">
                <a:latin typeface="Century Gothic" panose="020B0502020202020204" pitchFamily="34" charset="0"/>
              </a:rPr>
              <a:t>designed</a:t>
            </a:r>
            <a:r>
              <a:rPr lang="it-IT" sz="1600" dirty="0">
                <a:latin typeface="Century Gothic" panose="020B0502020202020204" pitchFamily="34" charset="0"/>
              </a:rPr>
              <a:t> for high performance transfers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It can transfer data towards FPGA (also known as </a:t>
            </a:r>
            <a:r>
              <a:rPr lang="it-IT" sz="1600" dirty="0" err="1">
                <a:latin typeface="Century Gothic" panose="020B0502020202020204" pitchFamily="34" charset="0"/>
              </a:rPr>
              <a:t>Programmable</a:t>
            </a:r>
            <a:r>
              <a:rPr lang="it-IT" sz="1600" dirty="0">
                <a:latin typeface="Century Gothic" panose="020B0502020202020204" pitchFamily="34" charset="0"/>
              </a:rPr>
              <a:t> Logic)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It is not coherent with cache, so proper operations are required to </a:t>
            </a:r>
            <a:r>
              <a:rPr lang="it-IT" sz="1600" dirty="0" err="1">
                <a:latin typeface="Century Gothic" panose="020B0502020202020204" pitchFamily="34" charset="0"/>
              </a:rPr>
              <a:t>perform</a:t>
            </a:r>
            <a:r>
              <a:rPr lang="it-IT" sz="1600" dirty="0">
                <a:latin typeface="Century Gothic" panose="020B0502020202020204" pitchFamily="34" charset="0"/>
              </a:rPr>
              <a:t> a </a:t>
            </a:r>
            <a:r>
              <a:rPr lang="it-IT" sz="1600" dirty="0" err="1">
                <a:latin typeface="Century Gothic" panose="020B0502020202020204" pitchFamily="34" charset="0"/>
              </a:rPr>
              <a:t>correct</a:t>
            </a:r>
            <a:r>
              <a:rPr lang="it-IT" sz="1600" dirty="0">
                <a:latin typeface="Century Gothic" panose="020B0502020202020204" pitchFamily="34" charset="0"/>
              </a:rPr>
              <a:t> transfer.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It can operate in </a:t>
            </a:r>
            <a:r>
              <a:rPr lang="it-IT" sz="1600" dirty="0" err="1">
                <a:latin typeface="Century Gothic" panose="020B0502020202020204" pitchFamily="34" charset="0"/>
              </a:rPr>
              <a:t>different</a:t>
            </a:r>
            <a:r>
              <a:rPr lang="it-IT" sz="1600" dirty="0">
                <a:latin typeface="Century Gothic" panose="020B0502020202020204" pitchFamily="34" charset="0"/>
              </a:rPr>
              <a:t> </a:t>
            </a:r>
            <a:r>
              <a:rPr lang="it-IT" sz="1600" dirty="0" err="1">
                <a:latin typeface="Century Gothic" panose="020B0502020202020204" pitchFamily="34" charset="0"/>
              </a:rPr>
              <a:t>modes</a:t>
            </a:r>
            <a:r>
              <a:rPr lang="it-IT" sz="1600" dirty="0">
                <a:latin typeface="Century Gothic" panose="020B0502020202020204" pitchFamily="34" charset="0"/>
              </a:rPr>
              <a:t>, in this project was used the </a:t>
            </a:r>
            <a:r>
              <a:rPr lang="it-IT" sz="1600" b="1" dirty="0">
                <a:latin typeface="Century Gothic" panose="020B0502020202020204" pitchFamily="34" charset="0"/>
              </a:rPr>
              <a:t>simple mode, </a:t>
            </a:r>
            <a:r>
              <a:rPr lang="it-IT" sz="1600" dirty="0">
                <a:latin typeface="Century Gothic" panose="020B0502020202020204" pitchFamily="34" charset="0"/>
              </a:rPr>
              <a:t>which </a:t>
            </a:r>
            <a:r>
              <a:rPr lang="it-IT" sz="1600" dirty="0" err="1">
                <a:latin typeface="Century Gothic" panose="020B0502020202020204" pitchFamily="34" charset="0"/>
              </a:rPr>
              <a:t>allows</a:t>
            </a:r>
            <a:r>
              <a:rPr lang="it-IT" sz="1600" dirty="0">
                <a:latin typeface="Century Gothic" panose="020B0502020202020204" pitchFamily="34" charset="0"/>
              </a:rPr>
              <a:t> to transfer a </a:t>
            </a:r>
            <a:r>
              <a:rPr lang="it-IT" sz="1600" dirty="0" err="1">
                <a:latin typeface="Century Gothic" panose="020B0502020202020204" pitchFamily="34" charset="0"/>
              </a:rPr>
              <a:t>contiguos</a:t>
            </a:r>
            <a:r>
              <a:rPr lang="it-IT" sz="1600" dirty="0">
                <a:latin typeface="Century Gothic" panose="020B0502020202020204" pitchFamily="34" charset="0"/>
              </a:rPr>
              <a:t> block of </a:t>
            </a:r>
            <a:r>
              <a:rPr lang="it-IT" sz="1600" dirty="0" err="1">
                <a:latin typeface="Century Gothic" panose="020B0502020202020204" pitchFamily="34" charset="0"/>
              </a:rPr>
              <a:t>elements</a:t>
            </a:r>
            <a:r>
              <a:rPr lang="it-IT" sz="1600" dirty="0">
                <a:latin typeface="Century Gothic" panose="020B0502020202020204" pitchFamily="34" charset="0"/>
              </a:rPr>
              <a:t> (page)</a:t>
            </a:r>
          </a:p>
        </p:txBody>
      </p:sp>
    </p:spTree>
    <p:extLst>
      <p:ext uri="{BB962C8B-B14F-4D97-AF65-F5344CB8AC3E}">
        <p14:creationId xmlns:p14="http://schemas.microsoft.com/office/powerpoint/2010/main" val="25143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1B8C7-9320-2324-6939-3C1E5925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755" y="90088"/>
            <a:ext cx="10916630" cy="524545"/>
          </a:xfrm>
        </p:spPr>
        <p:txBody>
          <a:bodyPr>
            <a:normAutofit fontScale="90000"/>
          </a:bodyPr>
          <a:lstStyle/>
          <a:p>
            <a:r>
              <a:rPr lang="it-IT" sz="3600" dirty="0">
                <a:latin typeface="Century Gothic" panose="020B0502020202020204" pitchFamily="34" charset="0"/>
              </a:rPr>
              <a:t>FPD-DMA &amp; Cache management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EE365D9-B979-5D9E-112D-C8FE44C7ADD7}"/>
              </a:ext>
            </a:extLst>
          </p:cNvPr>
          <p:cNvSpPr txBox="1"/>
          <p:nvPr/>
        </p:nvSpPr>
        <p:spPr>
          <a:xfrm>
            <a:off x="5408579" y="5787957"/>
            <a:ext cx="6692630" cy="10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Century Gothic" panose="020B0502020202020204" pitchFamily="34" charset="0"/>
              </a:rPr>
              <a:t>Before the transfer start the cache must be </a:t>
            </a:r>
            <a:r>
              <a:rPr lang="it-IT" sz="1600" b="1" dirty="0">
                <a:latin typeface="Century Gothic" panose="020B0502020202020204" pitchFamily="34" charset="0"/>
              </a:rPr>
              <a:t>cleaned</a:t>
            </a:r>
            <a:r>
              <a:rPr lang="it-IT" sz="1600" dirty="0">
                <a:latin typeface="Century Gothic" panose="020B0502020202020204" pitchFamily="34" charset="0"/>
              </a:rPr>
              <a:t>, instead at the end it must be </a:t>
            </a:r>
            <a:r>
              <a:rPr lang="it-IT" sz="1600" b="1" dirty="0">
                <a:latin typeface="Century Gothic" panose="020B0502020202020204" pitchFamily="34" charset="0"/>
              </a:rPr>
              <a:t>invalidated 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Or mark the mem region as MAP_UNCACHED using </a:t>
            </a:r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map_range </a:t>
            </a:r>
            <a:r>
              <a:rPr lang="it-IT" sz="1600" dirty="0">
                <a:latin typeface="Century Gothic" panose="020B0502020202020204" pitchFamily="34" charset="0"/>
              </a:rPr>
              <a:t>function available in Jailhouse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AB75BF6C-C733-A1C7-7DED-3D04BC7B902E}"/>
              </a:ext>
            </a:extLst>
          </p:cNvPr>
          <p:cNvSpPr/>
          <p:nvPr/>
        </p:nvSpPr>
        <p:spPr>
          <a:xfrm>
            <a:off x="6002229" y="614634"/>
            <a:ext cx="5369405" cy="124304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The two options are not necessary exclusive (</a:t>
            </a:r>
            <a:r>
              <a:rPr lang="it-IT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e.g you can declare a mem region as MAP_CACHED and then use the function implemented by us and shown below)</a:t>
            </a:r>
          </a:p>
        </p:txBody>
      </p:sp>
      <p:pic>
        <p:nvPicPr>
          <p:cNvPr id="6" name="Elemento grafico 5" descr="Processore contorno">
            <a:extLst>
              <a:ext uri="{FF2B5EF4-FFF2-40B4-BE49-F238E27FC236}">
                <a16:creationId xmlns:a16="http://schemas.microsoft.com/office/drawing/2014/main" id="{F101FB84-4F35-E22E-9A93-1A77886E2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60" y="-13527"/>
            <a:ext cx="701095" cy="70109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009DECB-EEFE-35ED-65ED-2A3BC759C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75" y="5374719"/>
            <a:ext cx="4487164" cy="1480699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BAA72C3-C305-A79A-1B58-1369BE4EB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75" y="800911"/>
            <a:ext cx="4487164" cy="4418396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5F0D760-0C0F-3474-6406-5027CE85A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1465" y="1994171"/>
            <a:ext cx="5925920" cy="3676750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6568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992827D-6F0B-C2DE-0F1F-CB718F4B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175633"/>
            <a:ext cx="6319697" cy="590508"/>
          </a:xfrm>
        </p:spPr>
        <p:txBody>
          <a:bodyPr>
            <a:normAutofit fontScale="90000"/>
          </a:bodyPr>
          <a:lstStyle/>
          <a:p>
            <a:br>
              <a:rPr lang="it-IT" sz="4000" dirty="0">
                <a:latin typeface="Century Gothic" panose="020B0502020202020204" pitchFamily="34" charset="0"/>
              </a:rPr>
            </a:br>
            <a:r>
              <a:rPr lang="it-IT" sz="4000" dirty="0">
                <a:latin typeface="Century Gothic" panose="020B0502020202020204" pitchFamily="34" charset="0"/>
              </a:rPr>
              <a:t>Jailhouse configuration (1)</a:t>
            </a:r>
            <a:br>
              <a:rPr lang="it-IT" sz="4000" dirty="0">
                <a:latin typeface="Century Gothic" panose="020B0502020202020204" pitchFamily="34" charset="0"/>
              </a:rPr>
            </a:br>
            <a:endParaRPr lang="it-IT" sz="4000" dirty="0">
              <a:latin typeface="Century Gothic" panose="020B0502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1C5B14-EC5E-D0EF-EE82-CBFF2A09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825042"/>
            <a:ext cx="5633733" cy="4579836"/>
          </a:xfrm>
        </p:spPr>
        <p:txBody>
          <a:bodyPr anchor="ctr">
            <a:normAutofit/>
          </a:bodyPr>
          <a:lstStyle/>
          <a:p>
            <a:r>
              <a:rPr lang="it-IT" sz="1600" dirty="0">
                <a:latin typeface="Century Gothic" panose="020B0502020202020204" pitchFamily="34" charset="0"/>
              </a:rPr>
              <a:t>A Jailhouse cell can use this peripheral if it is specificied </a:t>
            </a:r>
            <a:r>
              <a:rPr lang="it-IT" sz="1600" dirty="0">
                <a:latin typeface="Century Gothic" panose="020B0502020202020204" pitchFamily="34" charset="0"/>
                <a:cs typeface="Courier New" panose="02070309020205020404" pitchFamily="49" charset="0"/>
              </a:rPr>
              <a:t>into</a:t>
            </a:r>
            <a:r>
              <a:rPr lang="it-IT" sz="1600" dirty="0">
                <a:latin typeface="Century Gothic" panose="020B0502020202020204" pitchFamily="34" charset="0"/>
              </a:rPr>
              <a:t> cell configuration a 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mem_region </a:t>
            </a:r>
            <a:r>
              <a:rPr lang="it-IT" sz="1600" dirty="0">
                <a:latin typeface="Century Gothic" panose="020B0502020202020204" pitchFamily="34" charset="0"/>
              </a:rPr>
              <a:t>with following features :</a:t>
            </a:r>
          </a:p>
          <a:p>
            <a:pPr lvl="1"/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JAILHOUSE_MEM_IO </a:t>
            </a:r>
            <a:r>
              <a:rPr lang="it-IT" sz="1600" dirty="0">
                <a:latin typeface="Century Gothic" panose="020B0502020202020204" pitchFamily="34" charset="0"/>
                <a:cs typeface="Courier New" panose="02070309020205020404" pitchFamily="49" charset="0"/>
              </a:rPr>
              <a:t>flag because the peripheral is memory mapped.</a:t>
            </a:r>
          </a:p>
          <a:p>
            <a:pPr lvl="1"/>
            <a:r>
              <a:rPr lang="it-IT" sz="1600" dirty="0">
                <a:latin typeface="Century Gothic" panose="020B0502020202020204" pitchFamily="34" charset="0"/>
                <a:cs typeface="Courier New" panose="02070309020205020404" pitchFamily="49" charset="0"/>
              </a:rPr>
              <a:t>Base address and memory size.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If you want to use interrupt, you have to define the IRQ number into cell configuration</a:t>
            </a:r>
          </a:p>
          <a:p>
            <a:pPr>
              <a:lnSpc>
                <a:spcPct val="110000"/>
              </a:lnSpc>
            </a:pPr>
            <a:r>
              <a:rPr lang="it-IT" sz="1600" dirty="0">
                <a:latin typeface="Century Gothic" panose="020B0502020202020204" pitchFamily="34" charset="0"/>
              </a:rPr>
              <a:t>Another 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mem_region </a:t>
            </a:r>
            <a:r>
              <a:rPr lang="it-IT" sz="1600" dirty="0">
                <a:latin typeface="Century Gothic" panose="020B0502020202020204" pitchFamily="34" charset="0"/>
                <a:cs typeface="Courier New" panose="02070309020205020404" pitchFamily="49" charset="0"/>
              </a:rPr>
              <a:t>(called 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CRF-APB</a:t>
            </a:r>
            <a:r>
              <a:rPr lang="it-IT" sz="1600" dirty="0">
                <a:latin typeface="Century Gothic" panose="020B0502020202020204" pitchFamily="34" charset="0"/>
                <a:cs typeface="Courier New" panose="02070309020205020404" pitchFamily="49" charset="0"/>
              </a:rPr>
              <a:t>)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600" dirty="0">
                <a:latin typeface="Century Gothic" panose="020B0502020202020204" pitchFamily="34" charset="0"/>
              </a:rPr>
              <a:t>has been added because the 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FPD_DMA_REF_CTRL </a:t>
            </a:r>
            <a:r>
              <a:rPr lang="it-IT" sz="1600" dirty="0">
                <a:latin typeface="Century Gothic" panose="020B0502020202020204" pitchFamily="34" charset="0"/>
              </a:rPr>
              <a:t>register is located there and it allows to </a:t>
            </a:r>
            <a:r>
              <a:rPr lang="it-IT" sz="1600" b="1" dirty="0">
                <a:latin typeface="Century Gothic" panose="020B0502020202020204" pitchFamily="34" charset="0"/>
              </a:rPr>
              <a:t>enable the FPD-DMA clock</a:t>
            </a:r>
          </a:p>
          <a:p>
            <a:endParaRPr lang="it-IT" sz="2000" dirty="0">
              <a:latin typeface="Century Gothic" panose="020B0502020202020204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1B8F2C5-80C8-C249-C1FD-185081562C29}"/>
              </a:ext>
            </a:extLst>
          </p:cNvPr>
          <p:cNvSpPr/>
          <p:nvPr/>
        </p:nvSpPr>
        <p:spPr>
          <a:xfrm>
            <a:off x="6447716" y="116732"/>
            <a:ext cx="5744283" cy="66791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.mem_regions = 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r>
              <a:rPr lang="it-IT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FPD-DMA */</a:t>
            </a:r>
            <a:r>
              <a:rPr lang="it-IT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.phys_start = 0xFD500000,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.virt_start = 0xFD500000,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.size = 0x00010000, // 64 KB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.flags = JAILHOUSE_MEM_READ | 		JAILHOUSE_MEM_WRITE |				</a:t>
            </a:r>
            <a:r>
              <a:rPr lang="it-IT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JAILHOUSE_MEM_IO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it-IT" sz="1200" dirty="0"/>
              <a:t>		</a:t>
            </a:r>
          </a:p>
          <a:p>
            <a:r>
              <a:rPr lang="it-IT" sz="1200" dirty="0"/>
              <a:t>	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/* CRF_APB */{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.phys_start = 0xFD1A0000,			.virt_start = 0xFD1A0000,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.size = 0x00001000, // 4 KB			.flags = JAILHOUSE_MEM_READ | JAILHOUSE_MEM_WRITE |				</a:t>
            </a:r>
            <a:r>
              <a:rPr lang="it-IT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JAILHOUSE_MEM_IO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		},</a:t>
            </a:r>
          </a:p>
          <a:p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.irqchips = {</a:t>
            </a:r>
          </a:p>
          <a:p>
            <a:r>
              <a:rPr lang="it-IT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GIC */ </a:t>
            </a:r>
            <a:r>
              <a:rPr lang="it-IT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.address = 0xf9010000,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.pin_base = 32,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.pin_bitmap = {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(1&lt;&lt;(52 - 32)),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0,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0,		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(1 &lt;&lt; (140 - 128)) | (1 &lt;&lt; (141 - 128)) | </a:t>
            </a:r>
            <a:r>
              <a:rPr lang="it-IT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 &lt;&lt; (156 - 128))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			},	},	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},	</a:t>
            </a:r>
            <a:endParaRPr lang="it-IT" sz="1200" dirty="0"/>
          </a:p>
          <a:p>
            <a:endParaRPr lang="it-IT" sz="1200" dirty="0"/>
          </a:p>
          <a:p>
            <a:endParaRPr lang="it-IT" sz="14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D7B2661-187E-437D-933F-75FA7E681651}"/>
              </a:ext>
            </a:extLst>
          </p:cNvPr>
          <p:cNvSpPr txBox="1"/>
          <p:nvPr/>
        </p:nvSpPr>
        <p:spPr>
          <a:xfrm>
            <a:off x="592620" y="5718712"/>
            <a:ext cx="5230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Example</a:t>
            </a:r>
            <a:r>
              <a:rPr lang="it-IT" sz="1600" dirty="0">
                <a:latin typeface="Century Gothic" panose="020B0502020202020204" pitchFamily="34" charset="0"/>
              </a:rPr>
              <a:t> : 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GDMA channel 0  (or FPD-DMA channel 1)</a:t>
            </a:r>
          </a:p>
          <a:p>
            <a:r>
              <a:rPr lang="it-IT" sz="1600" dirty="0">
                <a:latin typeface="Century Gothic" panose="020B0502020202020204" pitchFamily="34" charset="0"/>
              </a:rPr>
              <a:t>Interrupt number (GIC) = </a:t>
            </a:r>
            <a:r>
              <a:rPr lang="it-IT" sz="1600" b="1" dirty="0">
                <a:latin typeface="Century Gothic" panose="020B0502020202020204" pitchFamily="34" charset="0"/>
              </a:rPr>
              <a:t>156</a:t>
            </a:r>
            <a:r>
              <a:rPr lang="it-IT" sz="1600" dirty="0">
                <a:latin typeface="Century Gothic" panose="020B0502020202020204" pitchFamily="34" charset="0"/>
              </a:rPr>
              <a:t> (it can be found into Reference manual of MPSOC)</a:t>
            </a:r>
          </a:p>
        </p:txBody>
      </p:sp>
      <p:pic>
        <p:nvPicPr>
          <p:cNvPr id="13" name="Elemento grafico 12" descr="Aula con riempimento a tinta unita">
            <a:extLst>
              <a:ext uri="{FF2B5EF4-FFF2-40B4-BE49-F238E27FC236}">
                <a16:creationId xmlns:a16="http://schemas.microsoft.com/office/drawing/2014/main" id="{9ADB10F8-9142-6E16-1690-F8A41F838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" y="5506777"/>
            <a:ext cx="522910" cy="5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3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A4711FE-2443-921B-8860-453FC3FF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it-IT" sz="4000" dirty="0">
                <a:latin typeface="Century Gothic" panose="020B0502020202020204" pitchFamily="34" charset="0"/>
                <a:cs typeface="Courier New" panose="02070309020205020404" pitchFamily="49" charset="0"/>
              </a:rPr>
              <a:t>Jailhouse configuration (2)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D671A4-3398-174D-F8EC-FE9E3D20B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600" y="2141996"/>
            <a:ext cx="5163799" cy="3821060"/>
          </a:xfrm>
        </p:spPr>
        <p:txBody>
          <a:bodyPr>
            <a:normAutofit/>
          </a:bodyPr>
          <a:lstStyle/>
          <a:p>
            <a:r>
              <a:rPr lang="it-IT" sz="1600" dirty="0">
                <a:latin typeface="Century Gothic" panose="020B0502020202020204" pitchFamily="34" charset="0"/>
              </a:rPr>
              <a:t>In non root cell configuration there are defined other two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mem_regions</a:t>
            </a:r>
            <a:r>
              <a:rPr lang="it-IT" sz="1600" dirty="0">
                <a:latin typeface="Century Gothic" panose="020B0502020202020204" pitchFamily="34" charset="0"/>
              </a:rPr>
              <a:t>:</a:t>
            </a:r>
          </a:p>
          <a:p>
            <a:pPr marL="914400" lvl="1" indent="-457200">
              <a:buFont typeface="+mj-lt"/>
              <a:buAutoNum type="alphaLcParenR"/>
            </a:pPr>
            <a:r>
              <a:rPr lang="it-IT" sz="1600" dirty="0">
                <a:latin typeface="Century Gothic" panose="020B0502020202020204" pitchFamily="34" charset="0"/>
              </a:rPr>
              <a:t>The first one is where the FPGA will write the data if the address is considered valid and it is used also for testing to see the written value</a:t>
            </a:r>
          </a:p>
          <a:p>
            <a:pPr marL="914400" lvl="1" indent="-457200">
              <a:buFont typeface="+mj-lt"/>
              <a:buAutoNum type="alphaLcParenR"/>
            </a:pPr>
            <a:r>
              <a:rPr lang="it-IT" sz="1600" dirty="0">
                <a:latin typeface="Century Gothic" panose="020B0502020202020204" pitchFamily="34" charset="0"/>
              </a:rPr>
              <a:t>The first one started at phys_address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0x10_xxxx_xxxx </a:t>
            </a:r>
            <a:r>
              <a:rPr lang="it-IT" sz="1600" dirty="0">
                <a:latin typeface="Century Gothic" panose="020B0502020202020204" pitchFamily="34" charset="0"/>
              </a:rPr>
              <a:t>and is visible from FPGA</a:t>
            </a:r>
          </a:p>
          <a:p>
            <a:pPr lvl="1"/>
            <a:r>
              <a:rPr lang="it-IT" sz="1600" dirty="0">
                <a:latin typeface="Century Gothic" panose="020B0502020202020204" pitchFamily="34" charset="0"/>
              </a:rPr>
              <a:t>The FPD-DMA will start a transfer from a source buffer to FPGA reserved page (a)</a:t>
            </a:r>
          </a:p>
          <a:p>
            <a:pPr lvl="1"/>
            <a:r>
              <a:rPr lang="it-IT" sz="1600" dirty="0">
                <a:latin typeface="Century Gothic" panose="020B0502020202020204" pitchFamily="34" charset="0"/>
              </a:rPr>
              <a:t>The FPGA will intercept the write request and will direct her to the other 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mem_region </a:t>
            </a:r>
            <a:r>
              <a:rPr lang="it-IT" sz="1600" dirty="0">
                <a:latin typeface="Century Gothic" panose="020B0502020202020204" pitchFamily="34" charset="0"/>
              </a:rPr>
              <a:t>after address analysis (b)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BADA56-E005-E9D9-8C86-383AE95C630E}"/>
              </a:ext>
            </a:extLst>
          </p:cNvPr>
          <p:cNvSpPr txBox="1"/>
          <p:nvPr/>
        </p:nvSpPr>
        <p:spPr>
          <a:xfrm>
            <a:off x="6222434" y="2141995"/>
            <a:ext cx="5716700" cy="33239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/* Mem for DMA */{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.phys_start = 0x50A00000,		.virt_start = 0x50A00000,		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.size = ...,		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.flags = JAILHOUSE_MEM_READ | JAILHOUSE_MEM_WRITE | JAILHOUSE_MEM_DMA	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},	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 </a:t>
            </a:r>
          </a:p>
          <a:p>
            <a:r>
              <a:rPr lang="it-IT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/*Mem for FPGA */{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.phys_start = 0x1050A00000,		.virt_start = 0x1050A00000,		.size = ...,			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.flags = JAILHOUSE_MEM_READ | JAILHOUSE_MEM_WRITE | JAILHOUSE_MEM_DMA,		},</a:t>
            </a:r>
          </a:p>
        </p:txBody>
      </p:sp>
    </p:spTree>
    <p:extLst>
      <p:ext uri="{BB962C8B-B14F-4D97-AF65-F5344CB8AC3E}">
        <p14:creationId xmlns:p14="http://schemas.microsoft.com/office/powerpoint/2010/main" val="356810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BD230D-0708-4782-93C2-6421485ED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8A85DB-B95C-A7E4-ED3C-49ABA86F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093"/>
            <a:ext cx="7706038" cy="573714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Design FPGA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0D25A-547E-4D17-B65E-FA2B88893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DB7BE0-CE7C-A3C2-8651-43396ECD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670" y="5328581"/>
            <a:ext cx="9362992" cy="1465283"/>
          </a:xfrm>
        </p:spPr>
        <p:txBody>
          <a:bodyPr>
            <a:normAutofit/>
          </a:bodyPr>
          <a:lstStyle/>
          <a:p>
            <a:r>
              <a:rPr lang="it-IT" sz="1600" dirty="0"/>
              <a:t>Let’s focus on how the design is done internally</a:t>
            </a:r>
          </a:p>
          <a:p>
            <a:r>
              <a:rPr lang="it-IT" sz="1600" dirty="0"/>
              <a:t>The design is made of two main components :</a:t>
            </a:r>
          </a:p>
          <a:p>
            <a:pPr lvl="1"/>
            <a:r>
              <a:rPr lang="it-IT" sz="1400" b="1" dirty="0"/>
              <a:t>ATL</a:t>
            </a:r>
          </a:p>
          <a:p>
            <a:pPr lvl="1"/>
            <a:r>
              <a:rPr lang="it-IT" sz="1400" b="1" dirty="0"/>
              <a:t>PAC_MAC  </a:t>
            </a:r>
            <a:r>
              <a:rPr lang="it-IT" sz="1400" dirty="0"/>
              <a:t>(which is in turn composed of two components analyzed subsequently) </a:t>
            </a:r>
          </a:p>
          <a:p>
            <a:pPr lvl="1"/>
            <a:endParaRPr lang="it-IT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39C56FC-EE04-4CE0-8DE2-736A201E9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D750EC9-E535-01EE-5147-D12364F7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217" y="858775"/>
            <a:ext cx="9912445" cy="4260682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9252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AD5AE7-1D20-1271-55CD-AAAF03FC0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ATL (Address Translation Logic)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C8840B-15DD-203F-3968-E0C6FC79D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42" y="2759515"/>
            <a:ext cx="4651625" cy="2560641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ATL translates FPGA addresses to their corresponding memory addresses </a:t>
            </a:r>
          </a:p>
          <a:p>
            <a:pPr marL="285750" indent="-285750" algn="just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ATL is mapped to addresses in range </a:t>
            </a:r>
            <a:r>
              <a:rPr lang="en-US" sz="1200" b="1" dirty="0"/>
              <a:t>[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0x10_0000_0000,0x10_7FFF_FFFF] </a:t>
            </a:r>
            <a:r>
              <a:rPr lang="en-US" sz="1400" dirty="0"/>
              <a:t>and it simply ignores the two most significant digits of AWADDR and ARADDR signals</a:t>
            </a:r>
          </a:p>
          <a:p>
            <a:pPr marL="285750" indent="-285750" algn="just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 the remaining signals it makes passthrough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5D2AB89-DD62-8D26-6618-13C1B46180BA}"/>
              </a:ext>
            </a:extLst>
          </p:cNvPr>
          <p:cNvSpPr txBox="1"/>
          <p:nvPr/>
        </p:nvSpPr>
        <p:spPr>
          <a:xfrm>
            <a:off x="78411" y="6168989"/>
            <a:ext cx="105052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  <a:r>
              <a:rPr 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:F. Pizzo, “FPGA-Based Memory Traffic Analysis” , Jun 2023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4FBD976-094D-8B93-81BC-0BF8CA64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030" y="2529110"/>
            <a:ext cx="6528708" cy="3300580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9589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CDFC6AF-D043-57EB-8197-8F9D22DF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PAC_MAC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077499-C310-47CC-0A6F-25B1CA776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2" y="2615244"/>
            <a:ext cx="4432570" cy="3934207"/>
          </a:xfrm>
        </p:spPr>
        <p:txBody>
          <a:bodyPr>
            <a:normAutofit/>
          </a:bodyPr>
          <a:lstStyle/>
          <a:p>
            <a:r>
              <a:rPr lang="it-IT" sz="1600" dirty="0"/>
              <a:t>PAC_MAC is the core of the design</a:t>
            </a:r>
          </a:p>
          <a:p>
            <a:r>
              <a:rPr lang="it-IT" sz="1600" dirty="0"/>
              <a:t>Internally it is composed of two components :</a:t>
            </a:r>
          </a:p>
          <a:p>
            <a:pPr lvl="1"/>
            <a:r>
              <a:rPr lang="it-IT" sz="1400" b="1" dirty="0"/>
              <a:t>FILTER</a:t>
            </a:r>
            <a:r>
              <a:rPr lang="it-IT" sz="1400" dirty="0"/>
              <a:t> : Addresses DRAM or SINK module (through </a:t>
            </a:r>
            <a:r>
              <a:rPr lang="it-IT" sz="1400" b="1" dirty="0"/>
              <a:t>AXI Smart connect</a:t>
            </a:r>
            <a:r>
              <a:rPr lang="it-IT" sz="1400" dirty="0"/>
              <a:t>) depending on the validity of transaction </a:t>
            </a:r>
          </a:p>
          <a:p>
            <a:pPr lvl="1"/>
            <a:r>
              <a:rPr lang="it-IT" sz="1400" b="1" dirty="0"/>
              <a:t>SINK </a:t>
            </a:r>
            <a:r>
              <a:rPr lang="it-IT" sz="1400" dirty="0"/>
              <a:t>: Addressed by the Filter when the transaction is considered invalid , and it responds with a AXI error (SLVERR)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A707A0B-B3BC-B17E-0660-0035678B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150" y="2679576"/>
            <a:ext cx="7401058" cy="3055709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8939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FE3618-8387-4153-870E-99EA1B97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5162D1C-B816-1535-ACFB-279E38B3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17" y="208932"/>
            <a:ext cx="3469336" cy="765405"/>
          </a:xfrm>
        </p:spPr>
        <p:txBody>
          <a:bodyPr>
            <a:normAutofit/>
          </a:bodyPr>
          <a:lstStyle/>
          <a:p>
            <a:r>
              <a:rPr lang="it-IT" dirty="0"/>
              <a:t>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9A42A-5548-4BB8-9115-A05821C36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2FE7BA-2871-DD23-B6A2-F8AF64D40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38" y="906349"/>
            <a:ext cx="4690377" cy="3851288"/>
          </a:xfrm>
        </p:spPr>
        <p:txBody>
          <a:bodyPr>
            <a:normAutofit lnSpcReduction="10000"/>
          </a:bodyPr>
          <a:lstStyle/>
          <a:p>
            <a:r>
              <a:rPr lang="it-IT" sz="1600" dirty="0"/>
              <a:t>Combinatorial component implemented in VHDL.</a:t>
            </a:r>
          </a:p>
          <a:p>
            <a:r>
              <a:rPr lang="it-IT" sz="1600" dirty="0"/>
              <a:t>The Filter concatenates :</a:t>
            </a:r>
          </a:p>
          <a:p>
            <a:pPr lvl="1"/>
            <a:r>
              <a:rPr lang="it-IT" sz="1400" b="1" dirty="0"/>
              <a:t>0x00 </a:t>
            </a:r>
            <a:r>
              <a:rPr lang="it-IT" sz="1400" dirty="0"/>
              <a:t>to address DRAM if the transaction is valid</a:t>
            </a:r>
          </a:p>
          <a:p>
            <a:pPr lvl="1"/>
            <a:r>
              <a:rPr lang="it-IT" sz="1400" b="1" dirty="0"/>
              <a:t>0x11</a:t>
            </a:r>
            <a:r>
              <a:rPr lang="it-IT" sz="1400" dirty="0"/>
              <a:t> instead; the range [0x11_0000_0000,0x11_7FFF_FFFF] is reserved for SINK-module</a:t>
            </a:r>
          </a:p>
          <a:p>
            <a:r>
              <a:rPr lang="it-IT" sz="1600" dirty="0"/>
              <a:t>How the filter works is shown for AW channel but the same  is for AR channel.</a:t>
            </a:r>
          </a:p>
          <a:p>
            <a:r>
              <a:rPr lang="it-IT" sz="1600" dirty="0"/>
              <a:t>For the others signal passthrough is used</a:t>
            </a:r>
          </a:p>
          <a:p>
            <a:r>
              <a:rPr lang="it-IT" sz="1600" b="1" dirty="0"/>
              <a:t>N.B. In current implementation the interval is fixed !!!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D49441E5-946F-46B3-BDD2-BAD08853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D36EA28-9467-0727-1F65-557402C9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227" y="359483"/>
            <a:ext cx="6384526" cy="5701738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52E01C9-B517-073D-9DE5-B9883997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07" y="5431791"/>
            <a:ext cx="3915224" cy="1258861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56F4240-CA63-6B54-2C44-54EE731B4A32}"/>
              </a:ext>
            </a:extLst>
          </p:cNvPr>
          <p:cNvSpPr txBox="1"/>
          <p:nvPr/>
        </p:nvSpPr>
        <p:spPr>
          <a:xfrm>
            <a:off x="2261654" y="4997745"/>
            <a:ext cx="1734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FILTER ranges </a:t>
            </a:r>
          </a:p>
        </p:txBody>
      </p:sp>
    </p:spTree>
    <p:extLst>
      <p:ext uri="{BB962C8B-B14F-4D97-AF65-F5344CB8AC3E}">
        <p14:creationId xmlns:p14="http://schemas.microsoft.com/office/powerpoint/2010/main" val="4243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BB7748-2D90-47F9-B603-E5BBDF0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FCA7F6-6CA1-A7E6-A4BF-EB3958F2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895" y="84658"/>
            <a:ext cx="4234765" cy="646956"/>
          </a:xfrm>
        </p:spPr>
        <p:txBody>
          <a:bodyPr>
            <a:normAutofit/>
          </a:bodyPr>
          <a:lstStyle/>
          <a:p>
            <a:r>
              <a:rPr lang="it-IT" dirty="0"/>
              <a:t>SINK (1)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20C5A4-6D50-41E8-9A9F-5333A0B3A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BC522FA-9646-5EAC-270D-AC0BF40D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757" y="875323"/>
            <a:ext cx="11291962" cy="15551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SINK module implements two FSM, one for writing and one for reading</a:t>
            </a:r>
          </a:p>
          <a:p>
            <a:r>
              <a:rPr lang="en-US" dirty="0"/>
              <a:t>It is mapped in range </a:t>
            </a:r>
            <a:r>
              <a:rPr lang="en-US" b="1" dirty="0"/>
              <a:t>[0x11_0000_0000,0x11_7FFF_FFFF] </a:t>
            </a:r>
            <a:r>
              <a:rPr lang="en-US" dirty="0"/>
              <a:t>and </a:t>
            </a:r>
            <a:r>
              <a:rPr lang="en-US" b="1" dirty="0"/>
              <a:t>not visible outside of design</a:t>
            </a:r>
          </a:p>
          <a:p>
            <a:r>
              <a:rPr lang="en-US" b="1" dirty="0"/>
              <a:t>Writing FSM </a:t>
            </a:r>
            <a:r>
              <a:rPr lang="en-US" dirty="0"/>
              <a:t>: responds to AXI-FULL  handshake with BRESP=SLVERR (“10”) on channel B , ignoring all burst beats (in CONSUME_BEATS state)</a:t>
            </a:r>
          </a:p>
          <a:p>
            <a:r>
              <a:rPr lang="en-US" b="1" dirty="0"/>
              <a:t>This module is mandatory </a:t>
            </a:r>
            <a:r>
              <a:rPr lang="en-US" dirty="0"/>
              <a:t>to end the master AXI transaction and avoid blocking the master</a:t>
            </a:r>
          </a:p>
          <a:p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48EADE-2B5D-CE2F-A77E-95D52967B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24" y="2574227"/>
            <a:ext cx="9778132" cy="3740134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27" name="Freeform 11">
            <a:extLst>
              <a:ext uri="{FF2B5EF4-FFF2-40B4-BE49-F238E27FC236}">
                <a16:creationId xmlns:a16="http://schemas.microsoft.com/office/drawing/2014/main" id="{FFE5CE31-B04A-4257-8666-7E23A80B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Elemento grafico 23" descr="Avviso con riempimento a tinta unita">
            <a:extLst>
              <a:ext uri="{FF2B5EF4-FFF2-40B4-BE49-F238E27FC236}">
                <a16:creationId xmlns:a16="http://schemas.microsoft.com/office/drawing/2014/main" id="{27551738-8C9D-FF35-24D3-A7601AF3D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512" y="151944"/>
            <a:ext cx="512383" cy="5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5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FE3618-8387-4153-870E-99EA1B97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A38C50-6674-9764-5071-ECDF243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973" y="195494"/>
            <a:ext cx="4714464" cy="751844"/>
          </a:xfrm>
        </p:spPr>
        <p:txBody>
          <a:bodyPr>
            <a:normAutofit/>
          </a:bodyPr>
          <a:lstStyle/>
          <a:p>
            <a:r>
              <a:rPr lang="it-IT" dirty="0"/>
              <a:t>SINK (2)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9A42A-5548-4BB8-9115-A05821C36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4C00DA-E3BC-DF08-9B25-C92C303F4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17" y="1091792"/>
            <a:ext cx="11408646" cy="751844"/>
          </a:xfrm>
        </p:spPr>
        <p:txBody>
          <a:bodyPr>
            <a:normAutofit/>
          </a:bodyPr>
          <a:lstStyle/>
          <a:p>
            <a:r>
              <a:rPr lang="it-IT" sz="1600" b="1" dirty="0"/>
              <a:t>Reading FSM  </a:t>
            </a:r>
            <a:r>
              <a:rPr lang="it-IT" sz="1600" dirty="0"/>
              <a:t>: answers immediately with RLAST=1 to signal the end of burst, and responds to handshake AXI with a RRESP=SLVERR on channel  R</a:t>
            </a:r>
          </a:p>
          <a:p>
            <a:endParaRPr lang="it-IT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9441E5-946F-46B3-BDD2-BAD08853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lemento grafico 4" descr="Avviso con riempimento a tinta unita">
            <a:extLst>
              <a:ext uri="{FF2B5EF4-FFF2-40B4-BE49-F238E27FC236}">
                <a16:creationId xmlns:a16="http://schemas.microsoft.com/office/drawing/2014/main" id="{8EB0FA93-9FBE-4039-4F5A-042CB54BD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266" y="251128"/>
            <a:ext cx="512383" cy="51238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A5A2292-4E29-42DF-CE08-E06757257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757" y="1843636"/>
            <a:ext cx="7978556" cy="4080509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991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8F42B7-9F11-005F-4B42-16DFB701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Century Gothic" panose="020B0502020202020204" pitchFamily="34" charset="0"/>
              </a:rPr>
              <a:t>Block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rgbClr val="FFFFFF"/>
                </a:solidFill>
                <a:latin typeface="Century Gothic" panose="020B0502020202020204" pitchFamily="34" charset="0"/>
              </a:rPr>
              <a:t>Design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062D3EA-DE17-2097-3C82-410CBD249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28" y="1651283"/>
            <a:ext cx="9731742" cy="5128592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9201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F2E9D-0203-AECF-7BF5-9AC4BE77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E8B31A3-C16E-DEF9-9EDB-A7642B390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DB39BA8-E0A5-98A0-753C-47BFCD10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1" y="159574"/>
            <a:ext cx="5533638" cy="660233"/>
          </a:xfrm>
        </p:spPr>
        <p:txBody>
          <a:bodyPr>
            <a:normAutofit/>
          </a:bodyPr>
          <a:lstStyle/>
          <a:p>
            <a:r>
              <a:rPr lang="it-IT" dirty="0"/>
              <a:t>Functional Analysis (1)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5FF49C-5C50-07A6-EFFE-5272F96FB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94B7E25D-0D9E-2E68-56F8-3E86E3CD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61" y="819807"/>
            <a:ext cx="11412449" cy="1660231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dirty="0"/>
              <a:t>This is a piece of simulation of FILTER module with an AXI write transaction on port S00 of PAC_MAC module</a:t>
            </a:r>
          </a:p>
          <a:p>
            <a:r>
              <a:rPr lang="en-US" b="1" dirty="0"/>
              <a:t>N.B. Only a few signals were shown</a:t>
            </a:r>
          </a:p>
          <a:p>
            <a:r>
              <a:rPr lang="en-US" dirty="0"/>
              <a:t>As we see since it AWADDR is not in FILTER-range then the SINK is addressed by adding “11” and M_AXI_AWADDR becomes 0x1150AB0000</a:t>
            </a:r>
            <a:endParaRPr lang="it-IT" dirty="0"/>
          </a:p>
          <a:p>
            <a:endParaRPr lang="en-US" dirty="0"/>
          </a:p>
        </p:txBody>
      </p:sp>
      <p:sp>
        <p:nvSpPr>
          <p:cNvPr id="28" name="Freeform 12">
            <a:extLst>
              <a:ext uri="{FF2B5EF4-FFF2-40B4-BE49-F238E27FC236}">
                <a16:creationId xmlns:a16="http://schemas.microsoft.com/office/drawing/2014/main" id="{78AD3E4D-EF0F-2798-CAA8-C897F33B7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F99F2D7-38F8-8E51-221D-613DD3A51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16" y="2770538"/>
            <a:ext cx="11412450" cy="1059535"/>
          </a:xfrm>
          <a:prstGeom prst="rect">
            <a:avLst/>
          </a:prstGeom>
        </p:spPr>
      </p:pic>
      <p:pic>
        <p:nvPicPr>
          <p:cNvPr id="4" name="Segnaposto contenuto 13">
            <a:extLst>
              <a:ext uri="{FF2B5EF4-FFF2-40B4-BE49-F238E27FC236}">
                <a16:creationId xmlns:a16="http://schemas.microsoft.com/office/drawing/2014/main" id="{6C8173C1-1A5C-FACF-D24D-F6EA9B61B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17" y="4447271"/>
            <a:ext cx="11412450" cy="104890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C5C600-A4FA-4F56-D072-AB4D2C79AB63}"/>
              </a:ext>
            </a:extLst>
          </p:cNvPr>
          <p:cNvSpPr txBox="1"/>
          <p:nvPr/>
        </p:nvSpPr>
        <p:spPr>
          <a:xfrm>
            <a:off x="7406687" y="4442523"/>
            <a:ext cx="998012" cy="2650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 b="1" dirty="0"/>
          </a:p>
        </p:txBody>
      </p:sp>
      <p:pic>
        <p:nvPicPr>
          <p:cNvPr id="13" name="Elemento grafico 12" descr="Segno di spunta con riempimento a tinta unita">
            <a:extLst>
              <a:ext uri="{FF2B5EF4-FFF2-40B4-BE49-F238E27FC236}">
                <a16:creationId xmlns:a16="http://schemas.microsoft.com/office/drawing/2014/main" id="{D9742141-5271-254B-EAD0-B1045F5D2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3220" y="125303"/>
            <a:ext cx="692130" cy="69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2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39760-6E61-3A0F-5635-C5461DFC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C55EE7-46F1-4FCE-8963-702DFF95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8B619B4-F3EB-5236-7690-151BAAD37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1" y="159574"/>
            <a:ext cx="5533638" cy="660233"/>
          </a:xfrm>
        </p:spPr>
        <p:txBody>
          <a:bodyPr>
            <a:normAutofit/>
          </a:bodyPr>
          <a:lstStyle/>
          <a:p>
            <a:r>
              <a:rPr lang="it-IT" dirty="0"/>
              <a:t>Functional Analysis (2)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EFD645-DA65-4344-9A09-F1A9ECA78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AF06DE7-8902-BFFD-DA7A-75C084A33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04" y="2315185"/>
            <a:ext cx="2832837" cy="3496556"/>
          </a:xfrm>
        </p:spPr>
        <p:txBody>
          <a:bodyPr>
            <a:normAutofit/>
          </a:bodyPr>
          <a:lstStyle/>
          <a:p>
            <a:r>
              <a:rPr lang="en-US" sz="1600" dirty="0"/>
              <a:t>This is a piece of simulation of SINK module with an AXI write transaction on port S01 of PAC_MAC module</a:t>
            </a:r>
          </a:p>
          <a:p>
            <a:r>
              <a:rPr lang="en-US" sz="1600" dirty="0"/>
              <a:t>As we see in SEND_BRESP_W state BRESP=10(=</a:t>
            </a:r>
            <a:r>
              <a:rPr lang="en-US" sz="1600" b="1" dirty="0"/>
              <a:t>SLVERR</a:t>
            </a:r>
            <a:r>
              <a:rPr lang="en-US" sz="1600" dirty="0"/>
              <a:t>)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5BBD5C3F-C858-DA64-C837-0DD6EE0A7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838" y="2315184"/>
            <a:ext cx="8476501" cy="3496556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28BA78B-54F7-3F6C-9D8A-6EC4BE5F8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47" y="1128604"/>
            <a:ext cx="9370992" cy="937098"/>
          </a:xfrm>
          <a:prstGeom prst="rect">
            <a:avLst/>
          </a:prstGeom>
        </p:spPr>
      </p:pic>
      <p:sp>
        <p:nvSpPr>
          <p:cNvPr id="28" name="Freeform 12">
            <a:extLst>
              <a:ext uri="{FF2B5EF4-FFF2-40B4-BE49-F238E27FC236}">
                <a16:creationId xmlns:a16="http://schemas.microsoft.com/office/drawing/2014/main" id="{52E1387C-B186-463D-8EC6-72189C2FA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04EDEE3-65C8-F2C3-BB33-92DD4DDC5B1E}"/>
              </a:ext>
            </a:extLst>
          </p:cNvPr>
          <p:cNvSpPr txBox="1"/>
          <p:nvPr/>
        </p:nvSpPr>
        <p:spPr>
          <a:xfrm>
            <a:off x="3560563" y="4562273"/>
            <a:ext cx="8392041" cy="249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/>
          </a:p>
        </p:txBody>
      </p:sp>
      <p:pic>
        <p:nvPicPr>
          <p:cNvPr id="13" name="Elemento grafico 12" descr="Segno di spunta con riempimento a tinta unita">
            <a:extLst>
              <a:ext uri="{FF2B5EF4-FFF2-40B4-BE49-F238E27FC236}">
                <a16:creationId xmlns:a16="http://schemas.microsoft.com/office/drawing/2014/main" id="{896EE7D7-EA0C-684D-E156-6E3651C11B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2631" y="139037"/>
            <a:ext cx="660234" cy="66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1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BFE3618-8387-4153-870E-99EA1B97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546D8D6-F69E-7D27-9D9A-D897B2C6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412" y="358591"/>
            <a:ext cx="4464996" cy="644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9A42A-5548-4BB8-9115-A05821C36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49441E5-946F-46B3-BDD2-BAD08853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68465AC-AFB9-0FDF-D21D-C04CB43B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258834"/>
              </p:ext>
            </p:extLst>
          </p:nvPr>
        </p:nvGraphicFramePr>
        <p:xfrm>
          <a:off x="2694562" y="1235414"/>
          <a:ext cx="7412475" cy="494165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{00A15C55-8517-42AA-B614-E9B94910E393}</a:tableStyleId>
              </a:tblPr>
              <a:tblGrid>
                <a:gridCol w="502907">
                  <a:extLst>
                    <a:ext uri="{9D8B030D-6E8A-4147-A177-3AD203B41FA5}">
                      <a16:colId xmlns:a16="http://schemas.microsoft.com/office/drawing/2014/main" val="4112350354"/>
                    </a:ext>
                  </a:extLst>
                </a:gridCol>
                <a:gridCol w="1903810">
                  <a:extLst>
                    <a:ext uri="{9D8B030D-6E8A-4147-A177-3AD203B41FA5}">
                      <a16:colId xmlns:a16="http://schemas.microsoft.com/office/drawing/2014/main" val="296305359"/>
                    </a:ext>
                  </a:extLst>
                </a:gridCol>
                <a:gridCol w="2276721">
                  <a:extLst>
                    <a:ext uri="{9D8B030D-6E8A-4147-A177-3AD203B41FA5}">
                      <a16:colId xmlns:a16="http://schemas.microsoft.com/office/drawing/2014/main" val="1436493128"/>
                    </a:ext>
                  </a:extLst>
                </a:gridCol>
                <a:gridCol w="2729037">
                  <a:extLst>
                    <a:ext uri="{9D8B030D-6E8A-4147-A177-3AD203B41FA5}">
                      <a16:colId xmlns:a16="http://schemas.microsoft.com/office/drawing/2014/main" val="1965004389"/>
                    </a:ext>
                  </a:extLst>
                </a:gridCol>
              </a:tblGrid>
              <a:tr h="414236">
                <a:tc>
                  <a:txBody>
                    <a:bodyPr/>
                    <a:lstStyle/>
                    <a:p>
                      <a:r>
                        <a:rPr lang="it-IT" sz="1200" b="0" cap="none" spc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ID</a:t>
                      </a:r>
                    </a:p>
                  </a:txBody>
                  <a:tcPr marL="99601" marR="76616" marT="76616" marB="7661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0" cap="none" spc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Operation</a:t>
                      </a:r>
                    </a:p>
                  </a:txBody>
                  <a:tcPr marL="99601" marR="76616" marT="76616" marB="7661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0" cap="none" spc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Input</a:t>
                      </a:r>
                    </a:p>
                  </a:txBody>
                  <a:tcPr marL="99601" marR="76616" marT="76616" marB="7661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0" cap="none" spc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Expected Output</a:t>
                      </a:r>
                    </a:p>
                  </a:txBody>
                  <a:tcPr marL="99601" marR="76616" marT="76616" marB="7661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39372"/>
                  </a:ext>
                </a:extLst>
              </a:tr>
              <a:tr h="618436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T1</a:t>
                      </a:r>
                    </a:p>
                  </a:txBody>
                  <a:tcPr marL="99601" marR="76616" marT="76616" marB="7661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Transfer DMA -&gt; FPGA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Courier New" panose="02070309020205020404" pitchFamily="49" charset="0"/>
                        </a:rPr>
                        <a:t>scr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address and 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address in range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DONE WITH NO ERROR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413725"/>
                  </a:ext>
                </a:extLst>
              </a:tr>
              <a:tr h="822636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T2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Transfer DMA -&gt; FPGA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Courier New" panose="02070309020205020404" pitchFamily="49" charset="0"/>
                        </a:rPr>
                        <a:t>src 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address in range and 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address not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DONE WITH ERROR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7657"/>
                  </a:ext>
                </a:extLst>
              </a:tr>
              <a:tr h="822636"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T3</a:t>
                      </a:r>
                    </a:p>
                  </a:txBody>
                  <a:tcPr marL="99601" marR="76616" marT="76616" marB="7661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Reading with CPU on FPGA page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Address in range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Destination updated with read value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94891"/>
                  </a:ext>
                </a:extLst>
              </a:tr>
              <a:tr h="822636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T4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Writing with CPU on FPGA page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Address  in range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Destination updated with written value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086961"/>
                  </a:ext>
                </a:extLst>
              </a:tr>
              <a:tr h="822636"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T5</a:t>
                      </a:r>
                    </a:p>
                  </a:txBody>
                  <a:tcPr marL="99601" marR="76616" marT="76616" marB="7661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Reading with CPU on FPGA page</a:t>
                      </a:r>
                    </a:p>
                    <a:p>
                      <a:endParaRPr lang="it-IT" sz="1200" cap="none" spc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Address not in range</a:t>
                      </a:r>
                    </a:p>
                    <a:p>
                      <a:endParaRPr lang="it-IT" sz="1200" cap="none" spc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--Sync Exception--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155487"/>
                  </a:ext>
                </a:extLst>
              </a:tr>
              <a:tr h="618436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T6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Writing with CPU on FPGA page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Address not in range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Kernel panic (or failure of non root cell in JAILHOUSE)</a:t>
                      </a:r>
                    </a:p>
                  </a:txBody>
                  <a:tcPr marL="99601" marR="76616" marT="76616" marB="7661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94902"/>
                  </a:ext>
                </a:extLst>
              </a:tr>
            </a:tbl>
          </a:graphicData>
        </a:graphic>
      </p:graphicFrame>
      <p:pic>
        <p:nvPicPr>
          <p:cNvPr id="9" name="Elemento grafico 8" descr="Appunti mischiati con riempimento a tinta unita">
            <a:extLst>
              <a:ext uri="{FF2B5EF4-FFF2-40B4-BE49-F238E27FC236}">
                <a16:creationId xmlns:a16="http://schemas.microsoft.com/office/drawing/2014/main" id="{A93C5EAD-2892-1FBD-B17F-6120878EB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92508"/>
            <a:ext cx="1142906" cy="114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4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17D98-D3A1-333A-67EF-D87951EC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392532-981A-DF94-5FF1-FA8CD04A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338" y="552409"/>
            <a:ext cx="3069961" cy="79400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Test Cases(1)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3018B2B-F352-CEFF-C0AE-00D4A2852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2" y="2469532"/>
            <a:ext cx="3585098" cy="142464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9793972-80BE-505C-D26E-9461CCAEC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241" y="5347193"/>
            <a:ext cx="4053840" cy="32004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8B7D8A0-2287-505B-5C28-FE7EF7286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/>
          <a:stretch>
            <a:fillRect/>
          </a:stretch>
        </p:blipFill>
        <p:spPr>
          <a:xfrm>
            <a:off x="3824241" y="5840858"/>
            <a:ext cx="4053840" cy="32004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D931929B-0DD0-3480-600A-503714919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29" y="1651325"/>
            <a:ext cx="3093988" cy="670618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95FC30C9-CBED-A9BD-886E-749D685CFA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4830" r="-8"/>
          <a:stretch>
            <a:fillRect/>
          </a:stretch>
        </p:blipFill>
        <p:spPr>
          <a:xfrm>
            <a:off x="3867420" y="4910796"/>
            <a:ext cx="3234602" cy="246553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FF34432B-2ADE-64B5-C425-CEBC552410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73" y="5459858"/>
            <a:ext cx="3215640" cy="70104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DBD278A0-0F20-68AB-A5F7-2410B18AE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17" y="1610876"/>
            <a:ext cx="5651121" cy="232839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5165100-5103-CEA3-5505-D5CA272C2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073" y="4630466"/>
            <a:ext cx="3101609" cy="647756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7038E005-40A4-0C76-B45D-1C163EFCA0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017" y="1128082"/>
            <a:ext cx="3964345" cy="329599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2551FBFE-35C0-FB60-81D8-D6B19AA81F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"/>
          <a:stretch>
            <a:fillRect/>
          </a:stretch>
        </p:blipFill>
        <p:spPr>
          <a:xfrm>
            <a:off x="7460761" y="4837706"/>
            <a:ext cx="4731238" cy="28956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A365E2ED-ACA6-054C-30A5-7CE6DC508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0761" y="4437573"/>
            <a:ext cx="3482760" cy="289560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EAFF5F79-EB3D-BA84-7808-76A1BE904A02}"/>
              </a:ext>
            </a:extLst>
          </p:cNvPr>
          <p:cNvSpPr txBox="1"/>
          <p:nvPr/>
        </p:nvSpPr>
        <p:spPr>
          <a:xfrm>
            <a:off x="337309" y="1392865"/>
            <a:ext cx="90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T1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88897C8-9EA1-2C61-9ADE-05AF9EF43197}"/>
              </a:ext>
            </a:extLst>
          </p:cNvPr>
          <p:cNvSpPr txBox="1"/>
          <p:nvPr/>
        </p:nvSpPr>
        <p:spPr>
          <a:xfrm>
            <a:off x="5842017" y="592940"/>
            <a:ext cx="90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T5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14CA249B-6769-227F-AB8F-DAB3F6368DB1}"/>
              </a:ext>
            </a:extLst>
          </p:cNvPr>
          <p:cNvSpPr txBox="1"/>
          <p:nvPr/>
        </p:nvSpPr>
        <p:spPr>
          <a:xfrm>
            <a:off x="337309" y="4213021"/>
            <a:ext cx="69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it-IT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it-IT" sz="1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61E36FAA-D2F8-184F-1267-E50201210183}"/>
              </a:ext>
            </a:extLst>
          </p:cNvPr>
          <p:cNvSpPr txBox="1"/>
          <p:nvPr/>
        </p:nvSpPr>
        <p:spPr>
          <a:xfrm>
            <a:off x="3795113" y="4307686"/>
            <a:ext cx="1370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T3 </a:t>
            </a:r>
            <a:r>
              <a:rPr lang="it-IT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T4</a:t>
            </a:r>
            <a:endParaRPr lang="it-IT" sz="1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EFAB97E8-C1AC-86F4-266D-706EDA6C9EBE}"/>
              </a:ext>
            </a:extLst>
          </p:cNvPr>
          <p:cNvSpPr txBox="1"/>
          <p:nvPr/>
        </p:nvSpPr>
        <p:spPr>
          <a:xfrm>
            <a:off x="7460761" y="4043604"/>
            <a:ext cx="1097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T6</a:t>
            </a:r>
          </a:p>
        </p:txBody>
      </p:sp>
    </p:spTree>
    <p:extLst>
      <p:ext uri="{BB962C8B-B14F-4D97-AF65-F5344CB8AC3E}">
        <p14:creationId xmlns:p14="http://schemas.microsoft.com/office/powerpoint/2010/main" val="131926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FE3618-8387-4153-870E-99EA1B97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30602F-5898-119F-B29C-D2BEC2D6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84" y="159574"/>
            <a:ext cx="4269159" cy="655757"/>
          </a:xfrm>
        </p:spPr>
        <p:txBody>
          <a:bodyPr>
            <a:normAutofit/>
          </a:bodyPr>
          <a:lstStyle/>
          <a:p>
            <a:r>
              <a:rPr lang="it-IT" dirty="0"/>
              <a:t>Test Cases (2)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9A42A-5548-4BB8-9115-A05821C36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73447F-2981-211C-958A-99054A4AE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24" y="2047917"/>
            <a:ext cx="3503775" cy="3759253"/>
          </a:xfrm>
        </p:spPr>
        <p:txBody>
          <a:bodyPr>
            <a:normAutofit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It’s important to observe that AXI error like </a:t>
            </a:r>
            <a:r>
              <a:rPr lang="it-IT" b="1" dirty="0">
                <a:latin typeface="Century Gothic" panose="020B0502020202020204" pitchFamily="34" charset="0"/>
              </a:rPr>
              <a:t>SLVERR </a:t>
            </a:r>
            <a:r>
              <a:rPr lang="it-IT" dirty="0">
                <a:latin typeface="Century Gothic" panose="020B0502020202020204" pitchFamily="34" charset="0"/>
              </a:rPr>
              <a:t>and </a:t>
            </a:r>
            <a:r>
              <a:rPr lang="it-IT" b="1" dirty="0">
                <a:latin typeface="Century Gothic" panose="020B0502020202020204" pitchFamily="34" charset="0"/>
              </a:rPr>
              <a:t>DECERR</a:t>
            </a:r>
            <a:r>
              <a:rPr lang="it-IT" dirty="0">
                <a:latin typeface="Century Gothic" panose="020B0502020202020204" pitchFamily="34" charset="0"/>
              </a:rPr>
              <a:t> are seen by processor as </a:t>
            </a:r>
            <a:r>
              <a:rPr lang="it-IT" b="1" dirty="0">
                <a:latin typeface="Century Gothic" panose="020B0502020202020204" pitchFamily="34" charset="0"/>
              </a:rPr>
              <a:t>failure</a:t>
            </a:r>
            <a:r>
              <a:rPr lang="it-IT" dirty="0">
                <a:latin typeface="Century Gothic" panose="020B0502020202020204" pitchFamily="34" charset="0"/>
              </a:rPr>
              <a:t> on AXI bus, so if we were on Linux we would see a Kernel Panic (in JAILHOUSE the non root cell would fail).</a:t>
            </a:r>
          </a:p>
          <a:p>
            <a:r>
              <a:rPr lang="it-IT" dirty="0">
                <a:latin typeface="Century Gothic" panose="020B0502020202020204" pitchFamily="34" charset="0"/>
              </a:rPr>
              <a:t>In the case of DMA-master the situation is different and status registers capture the AXI error</a:t>
            </a:r>
          </a:p>
          <a:p>
            <a:endParaRPr lang="it-IT" dirty="0"/>
          </a:p>
        </p:txBody>
      </p:sp>
      <p:pic>
        <p:nvPicPr>
          <p:cNvPr id="4" name="Immagine 3" descr="Immagine che contiene testo, schermata, bianco e nero, circuito&#10;&#10;Il contenuto generato dall'IA potrebbe non essere corretto.">
            <a:extLst>
              <a:ext uri="{FF2B5EF4-FFF2-40B4-BE49-F238E27FC236}">
                <a16:creationId xmlns:a16="http://schemas.microsoft.com/office/drawing/2014/main" id="{E9E064BC-19F9-6F02-368B-B8ACE7DB1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543" y="975097"/>
            <a:ext cx="7116513" cy="5017141"/>
          </a:xfrm>
          <a:prstGeom prst="rect">
            <a:avLst/>
          </a:prstGeom>
          <a:effectLst/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D49441E5-946F-46B3-BDD2-BAD08853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lemento grafico 5" descr="Avviso con riempimento a tinta unita">
            <a:extLst>
              <a:ext uri="{FF2B5EF4-FFF2-40B4-BE49-F238E27FC236}">
                <a16:creationId xmlns:a16="http://schemas.microsoft.com/office/drawing/2014/main" id="{C7288A62-333E-D4A4-D75A-BBDC16883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2137" y="10508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8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00735E-A23F-482C-1309-B50CE2CA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516492" cy="8291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System Analysis</a:t>
            </a:r>
          </a:p>
        </p:txBody>
      </p:sp>
      <p:pic>
        <p:nvPicPr>
          <p:cNvPr id="5" name="Picture 4" descr="Grafico su documento con penna">
            <a:extLst>
              <a:ext uri="{FF2B5EF4-FFF2-40B4-BE49-F238E27FC236}">
                <a16:creationId xmlns:a16="http://schemas.microsoft.com/office/drawing/2014/main" id="{8367AB1F-5504-0ED1-60B6-01519EBF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3" r="16411" b="-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DED999-2231-48AB-50E6-F4B829728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1570" y="1672706"/>
            <a:ext cx="4654284" cy="49513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Clr>
                <a:srgbClr val="4881B2"/>
              </a:buClr>
              <a:buNone/>
            </a:pPr>
            <a:r>
              <a:rPr lang="en-US" sz="1800" dirty="0">
                <a:latin typeface="Century Gothic" panose="020B0502020202020204" pitchFamily="34" charset="0"/>
              </a:rPr>
              <a:t>Let’s start now to analyze the system to understand:</a:t>
            </a:r>
          </a:p>
          <a:p>
            <a:pPr>
              <a:buClr>
                <a:srgbClr val="4881B2"/>
              </a:buClr>
            </a:pPr>
            <a:r>
              <a:rPr lang="en-US" sz="1800" dirty="0">
                <a:latin typeface="Century Gothic" panose="020B0502020202020204" pitchFamily="34" charset="0"/>
              </a:rPr>
              <a:t>How the time of DMA transfer changes passing through FPGA or not</a:t>
            </a:r>
          </a:p>
          <a:p>
            <a:pPr>
              <a:buClr>
                <a:srgbClr val="4881B2"/>
              </a:buClr>
            </a:pPr>
            <a:r>
              <a:rPr lang="en-US" sz="1800" dirty="0">
                <a:latin typeface="Century Gothic" panose="020B0502020202020204" pitchFamily="34" charset="0"/>
              </a:rPr>
              <a:t>What are the significant factors which influence Transfer Time (Design of experiment)</a:t>
            </a:r>
          </a:p>
          <a:p>
            <a:pPr>
              <a:buClr>
                <a:srgbClr val="4881B2"/>
              </a:buClr>
            </a:pPr>
            <a:r>
              <a:rPr lang="en-US" sz="1800" dirty="0">
                <a:latin typeface="Century Gothic" panose="020B0502020202020204" pitchFamily="34" charset="0"/>
              </a:rPr>
              <a:t>Inter-cell interference </a:t>
            </a:r>
          </a:p>
          <a:p>
            <a:pPr>
              <a:buClr>
                <a:srgbClr val="4881B2"/>
              </a:buClr>
            </a:pPr>
            <a:r>
              <a:rPr lang="en-US" sz="1800" dirty="0">
                <a:latin typeface="Century Gothic" panose="020B0502020202020204" pitchFamily="34" charset="0"/>
              </a:rPr>
              <a:t>…</a:t>
            </a:r>
          </a:p>
          <a:p>
            <a:pPr marL="0" indent="0">
              <a:buClr>
                <a:srgbClr val="4881B2"/>
              </a:buClr>
              <a:buNone/>
            </a:pPr>
            <a:endParaRPr lang="en-US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CDF4BB43-C1F0-4347-9E3C-701B3AD3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D757C42-A9DA-1B0A-8830-AAE8D224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3" y="415101"/>
            <a:ext cx="5655509" cy="638109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DOE (1)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C62B778-DDF8-42FB-8F13-9BFB0D4F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71114C-B039-CA8C-CD4D-87C18972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2" y="1161959"/>
            <a:ext cx="5829399" cy="2904203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rgbClr val="00C7FF"/>
              </a:buClr>
              <a:buNone/>
            </a:pPr>
            <a:r>
              <a:rPr lang="it-IT" dirty="0">
                <a:latin typeface="Century Gothic" panose="020B0502020202020204" pitchFamily="34" charset="0"/>
              </a:rPr>
              <a:t>This section tries to understand whether the two underlying  factors are statistically  significant for the transfer time.</a:t>
            </a:r>
          </a:p>
          <a:p>
            <a:pPr lvl="1">
              <a:buClr>
                <a:srgbClr val="00C7FF"/>
              </a:buClr>
            </a:pPr>
            <a:r>
              <a:rPr lang="it-IT" b="1" dirty="0">
                <a:latin typeface="Century Gothic" panose="020B0502020202020204" pitchFamily="34" charset="0"/>
              </a:rPr>
              <a:t>FPGA</a:t>
            </a:r>
            <a:r>
              <a:rPr lang="it-IT" dirty="0">
                <a:latin typeface="Century Gothic" panose="020B0502020202020204" pitchFamily="34" charset="0"/>
              </a:rPr>
              <a:t> : signal if the DMA transfer is performed through FPGA or not</a:t>
            </a:r>
          </a:p>
          <a:p>
            <a:pPr lvl="1">
              <a:buClr>
                <a:srgbClr val="00C7FF"/>
              </a:buClr>
            </a:pPr>
            <a:r>
              <a:rPr lang="it-IT" b="1" dirty="0">
                <a:latin typeface="Century Gothic" panose="020B0502020202020204" pitchFamily="34" charset="0"/>
              </a:rPr>
              <a:t>DmaTransfers</a:t>
            </a:r>
            <a:r>
              <a:rPr lang="it-IT" dirty="0">
                <a:latin typeface="Century Gothic" panose="020B0502020202020204" pitchFamily="34" charset="0"/>
              </a:rPr>
              <a:t> : define the number of DMA transfers, where every transfer is made of a burst of constant words (e.g 1000 words).</a:t>
            </a:r>
          </a:p>
          <a:p>
            <a:pPr marL="57150" indent="0">
              <a:buClr>
                <a:srgbClr val="00C7FF"/>
              </a:buClr>
              <a:buNone/>
            </a:pPr>
            <a:r>
              <a:rPr lang="it-IT" sz="1700" b="1" dirty="0">
                <a:latin typeface="Century Gothic" panose="020B0502020202020204" pitchFamily="34" charset="0"/>
              </a:rPr>
              <a:t>Full Factorial design </a:t>
            </a:r>
            <a:r>
              <a:rPr lang="it-IT" sz="1700" dirty="0">
                <a:latin typeface="Century Gothic" panose="020B0502020202020204" pitchFamily="34" charset="0"/>
              </a:rPr>
              <a:t>is choosen with </a:t>
            </a:r>
            <a:r>
              <a:rPr lang="it-IT" sz="1700" b="1" dirty="0">
                <a:latin typeface="Century Gothic" panose="020B0502020202020204" pitchFamily="34" charset="0"/>
              </a:rPr>
              <a:t>3 repetitions </a:t>
            </a:r>
            <a:r>
              <a:rPr lang="it-IT" sz="1700" dirty="0">
                <a:latin typeface="Century Gothic" panose="020B0502020202020204" pitchFamily="34" charset="0"/>
              </a:rPr>
              <a:t>for every factors combination, so we have 24 experiments in total.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6BCAAEB-4216-7390-9DEF-F15AD5E8BD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" r="24814"/>
          <a:stretch>
            <a:fillRect/>
          </a:stretch>
        </p:blipFill>
        <p:spPr bwMode="auto">
          <a:xfrm>
            <a:off x="7552110" y="265093"/>
            <a:ext cx="3794638" cy="6327813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50BDFA-8AB4-821E-2BAC-5E3CF6C3B6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19" t="98866" r="100000"/>
          <a:stretch>
            <a:fillRect/>
          </a:stretch>
        </p:blipFill>
        <p:spPr bwMode="auto">
          <a:xfrm>
            <a:off x="5895121" y="4217805"/>
            <a:ext cx="5451627" cy="110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 12">
            <a:extLst>
              <a:ext uri="{FF2B5EF4-FFF2-40B4-BE49-F238E27FC236}">
                <a16:creationId xmlns:a16="http://schemas.microsoft.com/office/drawing/2014/main" id="{8E9272BA-9542-4423-AC14-949EE8674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3884F3D9-0D55-B235-71CA-BC6B8F403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156183"/>
              </p:ext>
            </p:extLst>
          </p:nvPr>
        </p:nvGraphicFramePr>
        <p:xfrm>
          <a:off x="916388" y="4222554"/>
          <a:ext cx="2068751" cy="11911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8751">
                  <a:extLst>
                    <a:ext uri="{9D8B030D-6E8A-4147-A177-3AD203B41FA5}">
                      <a16:colId xmlns:a16="http://schemas.microsoft.com/office/drawing/2014/main" val="2246350981"/>
                    </a:ext>
                  </a:extLst>
                </a:gridCol>
              </a:tblGrid>
              <a:tr h="397057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574119"/>
                  </a:ext>
                </a:extLst>
              </a:tr>
              <a:tr h="397057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453752"/>
                  </a:ext>
                </a:extLst>
              </a:tr>
              <a:tr h="397057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76172"/>
                  </a:ext>
                </a:extLst>
              </a:tr>
            </a:tbl>
          </a:graphicData>
        </a:graphic>
      </p:graphicFrame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AF53C2AF-508D-0D4C-381F-AD2B9E918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16326"/>
              </p:ext>
            </p:extLst>
          </p:nvPr>
        </p:nvGraphicFramePr>
        <p:xfrm>
          <a:off x="3517996" y="4222553"/>
          <a:ext cx="2786737" cy="19012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6737">
                  <a:extLst>
                    <a:ext uri="{9D8B030D-6E8A-4147-A177-3AD203B41FA5}">
                      <a16:colId xmlns:a16="http://schemas.microsoft.com/office/drawing/2014/main" val="2246350981"/>
                    </a:ext>
                  </a:extLst>
                </a:gridCol>
              </a:tblGrid>
              <a:tr h="429227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DmaTransfers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574119"/>
                  </a:ext>
                </a:extLst>
              </a:tr>
              <a:tr h="368016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453752"/>
                  </a:ext>
                </a:extLst>
              </a:tr>
              <a:tr h="368016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76172"/>
                  </a:ext>
                </a:extLst>
              </a:tr>
              <a:tr h="368016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849029"/>
                  </a:ext>
                </a:extLst>
              </a:tr>
              <a:tr h="368016"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986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81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5F3B-F183-9ECD-DE1C-D5E3A411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ADCA61B-31B4-EC03-E14B-A557F87D4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11F9AD3-F176-C22C-30B5-2B880144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21" y="162357"/>
            <a:ext cx="3858607" cy="638109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DOE (2)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6FAFE70-4292-3A8B-4744-33F246253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37" name="Freeform 12">
            <a:extLst>
              <a:ext uri="{FF2B5EF4-FFF2-40B4-BE49-F238E27FC236}">
                <a16:creationId xmlns:a16="http://schemas.microsoft.com/office/drawing/2014/main" id="{CD7609E4-81CD-2338-CC34-0E223C3E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B19F44C-F770-2DBD-864C-DCDC5940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451" y="100278"/>
            <a:ext cx="10076589" cy="897980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rgbClr val="F1387E"/>
              </a:buClr>
              <a:buNone/>
            </a:pPr>
            <a:r>
              <a:rPr lang="it-IT" dirty="0">
                <a:solidFill>
                  <a:srgbClr val="000000"/>
                </a:solidFill>
              </a:rPr>
              <a:t>The residuals are </a:t>
            </a:r>
            <a:r>
              <a:rPr lang="it-IT" b="1" dirty="0">
                <a:solidFill>
                  <a:srgbClr val="000000"/>
                </a:solidFill>
              </a:rPr>
              <a:t>normal</a:t>
            </a:r>
            <a:r>
              <a:rPr lang="it-IT" dirty="0">
                <a:solidFill>
                  <a:srgbClr val="000000"/>
                </a:solidFill>
              </a:rPr>
              <a:t> as shown by histogram and qq-plot</a:t>
            </a:r>
          </a:p>
          <a:p>
            <a:pPr marL="0" indent="0">
              <a:buClr>
                <a:srgbClr val="F1387E"/>
              </a:buClr>
              <a:buNone/>
            </a:pPr>
            <a:r>
              <a:rPr lang="it-IT" dirty="0">
                <a:solidFill>
                  <a:srgbClr val="000000"/>
                </a:solidFill>
              </a:rPr>
              <a:t>The residuals are </a:t>
            </a:r>
            <a:r>
              <a:rPr lang="it-IT" b="1" dirty="0">
                <a:solidFill>
                  <a:srgbClr val="000000"/>
                </a:solidFill>
              </a:rPr>
              <a:t>eteroschedastic </a:t>
            </a:r>
            <a:r>
              <a:rPr lang="it-IT" dirty="0">
                <a:solidFill>
                  <a:srgbClr val="000000"/>
                </a:solidFill>
              </a:rPr>
              <a:t>as shown by the visual test residuals vs predicted response, in fact it easy to see that the residuals increase as the predicted response increases </a:t>
            </a:r>
          </a:p>
          <a:p>
            <a:pPr marL="0" indent="0">
              <a:buClr>
                <a:srgbClr val="F1387E"/>
              </a:buClr>
              <a:buNone/>
            </a:pPr>
            <a:endParaRPr lang="it-IT" dirty="0">
              <a:solidFill>
                <a:srgbClr val="000000"/>
              </a:solidFill>
            </a:endParaRPr>
          </a:p>
          <a:p>
            <a:endParaRPr lang="it-IT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278BC4F8-D590-05E3-3177-A5F0D2770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6272" y="963609"/>
            <a:ext cx="4474097" cy="5645552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A5110F2C-FB97-85AD-FC74-A0B88E29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486" y="998258"/>
            <a:ext cx="4721220" cy="4287391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5869AFE-89B1-BD68-1E30-AEDA23B55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044" y="5869620"/>
            <a:ext cx="4147415" cy="8170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92F4E5B-C2A4-FAA1-7E3A-A8832A3CC487}"/>
              </a:ext>
            </a:extLst>
          </p:cNvPr>
          <p:cNvSpPr txBox="1"/>
          <p:nvPr/>
        </p:nvSpPr>
        <p:spPr>
          <a:xfrm flipV="1">
            <a:off x="6248171" y="5859742"/>
            <a:ext cx="4288288" cy="88948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glow rad="63500">
              <a:schemeClr val="tx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506F2-0F7F-5E8C-434C-DF0493576CF7}"/>
              </a:ext>
            </a:extLst>
          </p:cNvPr>
          <p:cNvSpPr txBox="1"/>
          <p:nvPr/>
        </p:nvSpPr>
        <p:spPr>
          <a:xfrm>
            <a:off x="6320807" y="5346398"/>
            <a:ext cx="5469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/>
              <a:t>One-way analys</a:t>
            </a:r>
            <a:r>
              <a:rPr lang="it-IT" sz="1400" b="1" i="1" dirty="0"/>
              <a:t>is</a:t>
            </a:r>
            <a:r>
              <a:rPr lang="it-IT" sz="1400" b="1" dirty="0"/>
              <a:t> of Residuals Time(ns) for DmaTransfer factor shows low p-</a:t>
            </a:r>
            <a:r>
              <a:rPr lang="it-IT" sz="1400" b="1" dirty="0" err="1"/>
              <a:t>value</a:t>
            </a:r>
            <a:r>
              <a:rPr lang="it-IT" sz="1400" b="1" dirty="0"/>
              <a:t> with Levene and Bartlett tests</a:t>
            </a:r>
          </a:p>
        </p:txBody>
      </p:sp>
    </p:spTree>
    <p:extLst>
      <p:ext uri="{BB962C8B-B14F-4D97-AF65-F5344CB8AC3E}">
        <p14:creationId xmlns:p14="http://schemas.microsoft.com/office/powerpoint/2010/main" val="32746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E735-302E-4661-05A7-A4820CD29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0918BD1-523B-26FA-7A43-500B0002A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CA15EF7-A5EC-3382-18BB-E1D0412A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19" y="178872"/>
            <a:ext cx="5655509" cy="638109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DOE (3)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6B38A84-FE06-4FC8-1E5C-3DB34BC3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A4C2AB-E580-5816-895C-35456D43E9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19" t="98866" r="100000"/>
          <a:stretch>
            <a:fillRect/>
          </a:stretch>
        </p:blipFill>
        <p:spPr bwMode="auto">
          <a:xfrm>
            <a:off x="5885073" y="4338385"/>
            <a:ext cx="5451627" cy="110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 12">
            <a:extLst>
              <a:ext uri="{FF2B5EF4-FFF2-40B4-BE49-F238E27FC236}">
                <a16:creationId xmlns:a16="http://schemas.microsoft.com/office/drawing/2014/main" id="{8EC3160D-2ADE-A57C-EB5D-D9E634083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2C4430B-E22E-811B-C920-2B776CF0D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16981"/>
            <a:ext cx="3513630" cy="4444385"/>
          </a:xfrm>
        </p:spPr>
        <p:txBody>
          <a:bodyPr/>
          <a:lstStyle/>
          <a:p>
            <a:r>
              <a:rPr lang="it-IT" dirty="0"/>
              <a:t>The residuals properties suggest the use of </a:t>
            </a:r>
            <a:r>
              <a:rPr lang="it-IT" b="1" dirty="0"/>
              <a:t>Welch’s test</a:t>
            </a:r>
            <a:r>
              <a:rPr lang="it-IT" dirty="0"/>
              <a:t> which shows that :</a:t>
            </a:r>
          </a:p>
          <a:p>
            <a:pPr lvl="1"/>
            <a:r>
              <a:rPr lang="it-IT" b="1" dirty="0"/>
              <a:t>FPGA </a:t>
            </a:r>
            <a:r>
              <a:rPr lang="it-IT" dirty="0"/>
              <a:t>: is considered </a:t>
            </a:r>
            <a:r>
              <a:rPr lang="it-IT" b="1" dirty="0"/>
              <a:t>significant </a:t>
            </a:r>
          </a:p>
          <a:p>
            <a:pPr lvl="1"/>
            <a:r>
              <a:rPr lang="it-IT" b="1" dirty="0"/>
              <a:t>DmaTransfers : </a:t>
            </a:r>
            <a:r>
              <a:rPr lang="it-IT" dirty="0"/>
              <a:t>is considered </a:t>
            </a:r>
            <a:r>
              <a:rPr lang="it-IT" b="1" dirty="0"/>
              <a:t>not significant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A452694-0219-5FD5-99F6-8D9EFBE45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0" t="80612" r="52504" b="2417"/>
          <a:stretch>
            <a:fillRect/>
          </a:stretch>
        </p:blipFill>
        <p:spPr bwMode="auto">
          <a:xfrm>
            <a:off x="3871993" y="5447968"/>
            <a:ext cx="3827127" cy="1155530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282FB3C-4D6E-5EE9-7F9A-5ACA3E682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0" t="83125" r="5425" b="4862"/>
          <a:stretch>
            <a:fillRect/>
          </a:stretch>
        </p:blipFill>
        <p:spPr bwMode="auto">
          <a:xfrm>
            <a:off x="8173012" y="5549516"/>
            <a:ext cx="3860103" cy="841715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CE3803-B5BF-8C4C-49E7-3F341C482217}"/>
              </a:ext>
            </a:extLst>
          </p:cNvPr>
          <p:cNvSpPr txBox="1"/>
          <p:nvPr/>
        </p:nvSpPr>
        <p:spPr>
          <a:xfrm>
            <a:off x="4176867" y="5683946"/>
            <a:ext cx="3418888" cy="6500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E7ABA85-333C-7EC1-C7C9-42EF85328704}"/>
              </a:ext>
            </a:extLst>
          </p:cNvPr>
          <p:cNvSpPr txBox="1"/>
          <p:nvPr/>
        </p:nvSpPr>
        <p:spPr>
          <a:xfrm>
            <a:off x="8395535" y="5829520"/>
            <a:ext cx="2941165" cy="6050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E86601A-4036-3BD6-4638-CF2F26195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t="2934" r="50566" b="31005"/>
          <a:stretch>
            <a:fillRect/>
          </a:stretch>
        </p:blipFill>
        <p:spPr bwMode="auto">
          <a:xfrm>
            <a:off x="3891045" y="674758"/>
            <a:ext cx="3993925" cy="4586608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FA027271-9A4A-5222-F737-688D2C461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0" t="2416" r="625" b="27315"/>
          <a:stretch>
            <a:fillRect/>
          </a:stretch>
        </p:blipFill>
        <p:spPr bwMode="auto">
          <a:xfrm>
            <a:off x="8173012" y="725978"/>
            <a:ext cx="3940643" cy="4560910"/>
          </a:xfrm>
          <a:prstGeom prst="rect">
            <a:avLst/>
          </a:prstGeom>
          <a:noFill/>
          <a:effectLst>
            <a:glow rad="63500">
              <a:schemeClr val="tx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40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AD89A-ED17-D1C4-BDE2-1D4BCEFF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22AB8F-8672-4CA8-8E57-FDB5A32F1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rgbClr val="41536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4" name="Picture 35" descr="Circuito stampato elettronico">
            <a:extLst>
              <a:ext uri="{FF2B5EF4-FFF2-40B4-BE49-F238E27FC236}">
                <a16:creationId xmlns:a16="http://schemas.microsoft.com/office/drawing/2014/main" id="{9226EDD3-B197-CE21-B7AB-04C18B168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78" r="15254" b="-1"/>
          <a:stretch>
            <a:fillRect/>
          </a:stretch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95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21B64EF-4411-398D-7A1A-C7F99703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it-IT" sz="3200" dirty="0">
                <a:solidFill>
                  <a:srgbClr val="FEFFFF"/>
                </a:solidFill>
                <a:latin typeface="Century Gothic" panose="020B0502020202020204" pitchFamily="34" charset="0"/>
              </a:rPr>
              <a:t>Time analysis</a:t>
            </a:r>
            <a:endParaRPr lang="it-IT" sz="3200" dirty="0">
              <a:solidFill>
                <a:srgbClr val="FEFF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0E6939-5995-1B61-246A-E5271812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929284"/>
            <a:ext cx="7145866" cy="3024553"/>
          </a:xfrm>
        </p:spPr>
        <p:txBody>
          <a:bodyPr>
            <a:normAutofit/>
          </a:bodyPr>
          <a:lstStyle/>
          <a:p>
            <a:pPr>
              <a:buClr>
                <a:srgbClr val="7EEEFF"/>
              </a:buClr>
            </a:pP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Showed that </a:t>
            </a:r>
            <a:r>
              <a:rPr lang="it-IT" b="1" dirty="0">
                <a:solidFill>
                  <a:srgbClr val="FEFFFF"/>
                </a:solidFill>
                <a:latin typeface="Century Gothic" panose="020B0502020202020204" pitchFamily="34" charset="0"/>
              </a:rPr>
              <a:t>FPGA </a:t>
            </a: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is a significant factor, this section tries to understand : </a:t>
            </a:r>
          </a:p>
          <a:p>
            <a:pPr lvl="1">
              <a:buClr>
                <a:srgbClr val="7EEEFF"/>
              </a:buClr>
            </a:pP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How the transfer time changes if CPU passes through FPGA or directly in memory</a:t>
            </a:r>
          </a:p>
          <a:p>
            <a:pPr lvl="1">
              <a:buClr>
                <a:srgbClr val="7EEEFF"/>
              </a:buClr>
            </a:pP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How the transfer time changes if  DMA passes through FPGA or directly in memory</a:t>
            </a:r>
          </a:p>
          <a:p>
            <a:pPr>
              <a:buClr>
                <a:srgbClr val="7EEEFF"/>
              </a:buClr>
            </a:pP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A </a:t>
            </a:r>
            <a:r>
              <a:rPr lang="it-IT" b="1" dirty="0">
                <a:solidFill>
                  <a:srgbClr val="FEFFFF"/>
                </a:solidFill>
                <a:latin typeface="Century Gothic" panose="020B0502020202020204" pitchFamily="34" charset="0"/>
              </a:rPr>
              <a:t>stress test </a:t>
            </a:r>
            <a:r>
              <a:rPr lang="it-IT" dirty="0">
                <a:solidFill>
                  <a:srgbClr val="FEFFFF"/>
                </a:solidFill>
                <a:latin typeface="Century Gothic" panose="020B0502020202020204" pitchFamily="34" charset="0"/>
              </a:rPr>
              <a:t>will be used to start a certain number of DMA transfers, each consisting of a constant number of word (e.g 1000), towards FPGA or Memory</a:t>
            </a:r>
          </a:p>
        </p:txBody>
      </p:sp>
    </p:spTree>
    <p:extLst>
      <p:ext uri="{BB962C8B-B14F-4D97-AF65-F5344CB8AC3E}">
        <p14:creationId xmlns:p14="http://schemas.microsoft.com/office/powerpoint/2010/main" val="32735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5D7A-D56E-14C1-94AE-67E9C89D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0EA2E38D-389A-CD17-BBEE-3A2909CD8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86FB9E-9283-DB62-6D1F-06CE2184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4" y="158775"/>
            <a:ext cx="8791428" cy="742220"/>
          </a:xfrm>
        </p:spPr>
        <p:txBody>
          <a:bodyPr>
            <a:normAutofit/>
          </a:bodyPr>
          <a:lstStyle/>
          <a:p>
            <a:r>
              <a:rPr lang="it-IT" dirty="0"/>
              <a:t>DMA-&gt;FPGA-&gt;MEM </a:t>
            </a:r>
            <a:r>
              <a:rPr lang="it-IT" b="1" dirty="0">
                <a:solidFill>
                  <a:srgbClr val="FF0000"/>
                </a:solidFill>
              </a:rPr>
              <a:t>VS</a:t>
            </a:r>
            <a:r>
              <a:rPr lang="it-IT" dirty="0"/>
              <a:t> DMA-&gt;MEM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14C6D675-6EC2-D9E1-4D20-F7904DFBD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4E8560-B9A5-557D-460D-9CB82B738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3133" y="1060555"/>
                <a:ext cx="5380885" cy="39979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1400" dirty="0">
                    <a:cs typeface="Courier New" panose="02070309020205020404" pitchFamily="49" charset="0"/>
                  </a:rPr>
                  <a:t>After collected 10 samples , It is easy to see that in both cases the time increases in linear way respect to number of transfers </a:t>
                </a:r>
                <a14:m>
                  <m:oMath xmlns:m="http://schemas.openxmlformats.org/officeDocument/2006/math">
                    <m:r>
                      <a:rPr lang="it-IT" sz="1400" b="1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it-IT" sz="1400" dirty="0">
                    <a:cs typeface="Courier New" panose="02070309020205020404" pitchFamily="49" charset="0"/>
                  </a:rPr>
                  <a:t>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𝑫𝑴𝑨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𝑭𝒑𝒈𝒂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𝐷𝑀𝐴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𝐹𝑝𝑔𝑎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𝐷𝑀𝐴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𝐹𝑝𝑔𝑎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it-IT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𝑫𝑴𝑨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𝑴𝒆𝒎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𝐷𝑀𝐴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𝑀𝑒𝑚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𝐷𝑀𝐴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𝑀𝑒𝑚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it-IT" dirty="0"/>
              </a:p>
              <a:p>
                <a:pPr marL="57150" indent="0">
                  <a:buNone/>
                </a:pPr>
                <a:r>
                  <a:rPr lang="it-IT" sz="1400" dirty="0"/>
                  <a:t>We define with </a:t>
                </a:r>
                <a:r>
                  <a:rPr lang="it-IT" sz="1400" b="1" dirty="0"/>
                  <a:t>gain factor </a:t>
                </a:r>
                <a:r>
                  <a:rPr lang="it-IT" sz="1400" dirty="0"/>
                  <a:t>:</a:t>
                </a:r>
              </a:p>
              <a:p>
                <a:pPr lvl="3">
                  <a:buFont typeface="Wingdings" panose="05000000000000000000" pitchFamily="2" charset="2"/>
                  <a:buChar char="Ø"/>
                </a:pPr>
                <a:r>
                  <a:rPr lang="it-IT" sz="1600" dirty="0"/>
                  <a:t>	</a:t>
                </a:r>
                <a14:m>
                  <m:oMath xmlns:m="http://schemas.openxmlformats.org/officeDocument/2006/math">
                    <m:r>
                      <a:rPr lang="it-IT" sz="1600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it-IT" sz="1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𝐷𝑀𝐴</m:t>
                            </m:r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𝐹𝑝𝑔𝑎</m:t>
                            </m:r>
                          </m:sub>
                        </m:sSub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𝐷𝑀𝐴</m:t>
                            </m:r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𝑀𝑒𝑚</m:t>
                            </m:r>
                          </m:sub>
                        </m:sSub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sz="1400" dirty="0"/>
                  <a:t>In our case (considering also the confidence intervals) </a:t>
                </a:r>
                <a14:m>
                  <m:oMath xmlns:m="http://schemas.openxmlformats.org/officeDocument/2006/math">
                    <m:r>
                      <a:rPr lang="it-IT" sz="14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it-IT" sz="1400" dirty="0"/>
                  <a:t> is equal to :</a:t>
                </a:r>
                <a:endParaRPr lang="it-IT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it-IT" dirty="0"/>
                  <a:t>	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1.14 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1296.4421±4.92</m:t>
                        </m:r>
                      </m:den>
                    </m:f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8.792±0.033</m:t>
                    </m:r>
                  </m:oMath>
                </a14:m>
                <a:endParaRPr lang="it-IT" b="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4E8560-B9A5-557D-460D-9CB82B738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133" y="1060555"/>
                <a:ext cx="5380885" cy="3997943"/>
              </a:xfrm>
              <a:blipFill>
                <a:blip r:embed="rId2"/>
                <a:stretch>
                  <a:fillRect l="-340" t="-3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 12">
            <a:extLst>
              <a:ext uri="{FF2B5EF4-FFF2-40B4-BE49-F238E27FC236}">
                <a16:creationId xmlns:a16="http://schemas.microsoft.com/office/drawing/2014/main" id="{777F0E93-68F0-93F8-B40D-78D6FE7A0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2763776-16A3-CF35-87E2-BAD4EA67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46" y="877887"/>
            <a:ext cx="5643121" cy="4255621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E70B602-4486-09AB-3EAD-955523D0D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953" y="5787441"/>
            <a:ext cx="5497157" cy="86035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C786C4B-08DC-3CA4-A890-3164EB850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932" y="5796839"/>
            <a:ext cx="5045183" cy="84438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572B611-2A4D-38E0-CEE5-893AABF62D42}"/>
              </a:ext>
            </a:extLst>
          </p:cNvPr>
          <p:cNvSpPr txBox="1"/>
          <p:nvPr/>
        </p:nvSpPr>
        <p:spPr>
          <a:xfrm>
            <a:off x="1591861" y="5348999"/>
            <a:ext cx="480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Parameters of linear regression model </a:t>
            </a:r>
            <a:r>
              <a:rPr lang="it-IT" sz="1400" b="1" dirty="0">
                <a:solidFill>
                  <a:srgbClr val="FF0000"/>
                </a:solidFill>
              </a:rPr>
              <a:t>TimeDMAFpga</a:t>
            </a:r>
            <a:r>
              <a:rPr lang="it-IT" sz="1400" b="1" dirty="0"/>
              <a:t>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5EFB078-5BFB-91CE-5189-6F97C12D7AA1}"/>
              </a:ext>
            </a:extLst>
          </p:cNvPr>
          <p:cNvSpPr txBox="1"/>
          <p:nvPr/>
        </p:nvSpPr>
        <p:spPr>
          <a:xfrm>
            <a:off x="6891930" y="5345539"/>
            <a:ext cx="480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Parameters of linear regression model </a:t>
            </a:r>
            <a:r>
              <a:rPr lang="it-IT" sz="1400" b="1" dirty="0">
                <a:solidFill>
                  <a:srgbClr val="FFC000"/>
                </a:solidFill>
              </a:rPr>
              <a:t>TimeDMAMem</a:t>
            </a:r>
            <a:r>
              <a:rPr lang="it-IT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132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E504-8912-B3F3-C97A-D242A236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CB87B199-CA10-291C-BBB8-F216E0C52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9A77210-72DD-B433-D16E-101F638A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17" y="157731"/>
            <a:ext cx="9743664" cy="623621"/>
          </a:xfrm>
        </p:spPr>
        <p:txBody>
          <a:bodyPr>
            <a:normAutofit fontScale="90000"/>
          </a:bodyPr>
          <a:lstStyle/>
          <a:p>
            <a:r>
              <a:rPr lang="it-IT" dirty="0"/>
              <a:t>CPU-&gt;FPGA-&gt;MEM </a:t>
            </a:r>
            <a:r>
              <a:rPr lang="it-IT" b="1" dirty="0">
                <a:solidFill>
                  <a:srgbClr val="FF0000"/>
                </a:solidFill>
              </a:rPr>
              <a:t>VS</a:t>
            </a:r>
            <a:r>
              <a:rPr lang="it-IT" dirty="0"/>
              <a:t> CPU-&gt;MEM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32634916-C87C-B356-E55B-DCC86960B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28DDC562-F212-1356-DFFC-D1DB21D58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37DDF2D-2D61-D923-44F8-DDA15700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01" y="870464"/>
            <a:ext cx="5013835" cy="3903962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75214E-33EA-2B37-03C0-23CCA5C3BF4B}"/>
              </a:ext>
            </a:extLst>
          </p:cNvPr>
          <p:cNvSpPr txBox="1"/>
          <p:nvPr/>
        </p:nvSpPr>
        <p:spPr>
          <a:xfrm>
            <a:off x="6786987" y="5603242"/>
            <a:ext cx="480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Parameters of linear regression model </a:t>
            </a:r>
            <a:r>
              <a:rPr lang="it-IT" sz="1400" b="1" dirty="0">
                <a:solidFill>
                  <a:srgbClr val="FFC000"/>
                </a:solidFill>
              </a:rPr>
              <a:t>TimeCPUMem</a:t>
            </a:r>
            <a:r>
              <a:rPr lang="it-IT" sz="1400" b="1" dirty="0"/>
              <a:t>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816CD1C-E026-2317-AAC4-98736DEE4AA9}"/>
              </a:ext>
            </a:extLst>
          </p:cNvPr>
          <p:cNvSpPr txBox="1"/>
          <p:nvPr/>
        </p:nvSpPr>
        <p:spPr>
          <a:xfrm>
            <a:off x="1381974" y="5635995"/>
            <a:ext cx="480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Parameters of linear regression model </a:t>
            </a:r>
            <a:r>
              <a:rPr lang="it-IT" sz="1400" b="1" dirty="0">
                <a:solidFill>
                  <a:srgbClr val="0070C0"/>
                </a:solidFill>
              </a:rPr>
              <a:t>TimeCPUFpga</a:t>
            </a:r>
            <a:r>
              <a:rPr lang="it-IT" sz="1400" b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5F1716-BE1D-1300-BC5C-33B33F13FFB0}"/>
                  </a:ext>
                </a:extLst>
              </p:cNvPr>
              <p:cNvSpPr txBox="1"/>
              <p:nvPr/>
            </p:nvSpPr>
            <p:spPr>
              <a:xfrm>
                <a:off x="391178" y="760042"/>
                <a:ext cx="5704822" cy="3881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0" dirty="0">
                    <a:latin typeface="+mj-lt"/>
                    <a:cs typeface="Courier New" panose="02070309020205020404" pitchFamily="49" charset="0"/>
                  </a:rPr>
                  <a:t>As before, </a:t>
                </a:r>
                <a:r>
                  <a:rPr lang="it-IT" sz="1400" dirty="0">
                    <a:latin typeface="+mj-lt"/>
                    <a:cs typeface="Courier New" panose="02070309020205020404" pitchFamily="49" charset="0"/>
                  </a:rPr>
                  <a:t>i</a:t>
                </a:r>
                <a:r>
                  <a:rPr lang="it-IT" sz="1400" b="0" dirty="0">
                    <a:latin typeface="+mj-lt"/>
                    <a:cs typeface="Courier New" panose="02070309020205020404" pitchFamily="49" charset="0"/>
                  </a:rPr>
                  <a:t>t is easy to see now too that in both cases the time increases in linear way :</a:t>
                </a:r>
              </a:p>
              <a:p>
                <a:endParaRPr lang="it-IT" sz="1400" b="0" dirty="0">
                  <a:latin typeface="+mj-lt"/>
                  <a:cs typeface="Courier New" panose="02070309020205020404" pitchFamily="49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𝑪𝑷𝑼𝑭𝒑𝒈𝒂</m:t>
                        </m:r>
                      </m:sub>
                    </m:sSub>
                    <m:d>
                      <m:d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𝐶𝑃𝑈𝐹𝑝𝑔𝑎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𝐶𝑃𝑈𝐹𝑝𝑔𝑎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it-IT" sz="1600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1600" b="1" i="1">
                            <a:latin typeface="Cambria Math" panose="02040503050406030204" pitchFamily="18" charset="0"/>
                          </a:rPr>
                          <m:t>𝑪𝑷𝑼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𝑴𝒆𝒎</m:t>
                        </m:r>
                      </m:sub>
                    </m:sSub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𝐶𝑃𝑈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𝑀𝑒𝑚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𝐶𝑃𝑈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𝑀𝑒𝑚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it-IT" sz="1600" dirty="0"/>
              </a:p>
              <a:p>
                <a:endParaRPr lang="it-IT" sz="1600" dirty="0"/>
              </a:p>
              <a:p>
                <a:r>
                  <a:rPr lang="it-IT" sz="1400" dirty="0">
                    <a:latin typeface="+mj-lt"/>
                  </a:rPr>
                  <a:t>We define also in this case the </a:t>
                </a:r>
                <a:r>
                  <a:rPr lang="it-IT" sz="1400" b="1" dirty="0">
                    <a:latin typeface="+mj-lt"/>
                  </a:rPr>
                  <a:t>gain factor </a:t>
                </a:r>
                <a:r>
                  <a:rPr lang="it-IT" sz="1400" dirty="0">
                    <a:latin typeface="+mj-lt"/>
                  </a:rPr>
                  <a:t>:</a:t>
                </a:r>
              </a:p>
              <a:p>
                <a:endParaRPr lang="it-IT" sz="1400" dirty="0">
                  <a:latin typeface="+mj-lt"/>
                </a:endParaRPr>
              </a:p>
              <a:p>
                <a:pPr marL="1657350" lvl="3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𝐶𝑃𝑈𝐹𝑝𝑔𝑎</m:t>
                            </m:r>
                          </m:sub>
                        </m:sSub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𝐶𝑃𝑈𝑀𝑒𝑚</m:t>
                            </m:r>
                          </m:sub>
                        </m:sSub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endParaRPr lang="it-IT" sz="1600" dirty="0"/>
              </a:p>
              <a:p>
                <a:endParaRPr lang="it-IT" sz="1600" dirty="0"/>
              </a:p>
              <a:p>
                <a:r>
                  <a:rPr lang="it-IT" sz="1400" dirty="0"/>
                  <a:t>In our case (considering also the confidence intervals) </a:t>
                </a:r>
                <a14:m>
                  <m:oMath xmlns:m="http://schemas.openxmlformats.org/officeDocument/2006/math">
                    <m:r>
                      <a:rPr lang="it-IT" sz="14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it-IT" sz="1400" dirty="0"/>
                  <a:t> is equal to :</a:t>
                </a:r>
              </a:p>
              <a:p>
                <a:endParaRPr lang="it-IT" sz="1600" dirty="0"/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74.9368±0.058</m:t>
                        </m:r>
                      </m:num>
                      <m:den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8.3605±0.105</m:t>
                        </m:r>
                      </m:den>
                    </m:f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=8.964±0.11</m:t>
                    </m:r>
                  </m:oMath>
                </a14:m>
                <a:endParaRPr lang="it-IT" sz="1600" dirty="0"/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:endParaRPr lang="it-IT" sz="16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5F1716-BE1D-1300-BC5C-33B33F13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78" y="760042"/>
                <a:ext cx="5704822" cy="3881062"/>
              </a:xfrm>
              <a:prstGeom prst="rect">
                <a:avLst/>
              </a:prstGeom>
              <a:blipFill>
                <a:blip r:embed="rId4"/>
                <a:stretch>
                  <a:fillRect l="-321" t="-314" r="-10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394CF4A3-0562-6776-921B-06A9AA76E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901" y="5991578"/>
            <a:ext cx="5277274" cy="78208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B2D49EC-9A68-041D-468B-44A6B850C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988" y="6000131"/>
            <a:ext cx="5340552" cy="78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8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9FCF2-8E65-A2E5-E63D-39FD4D9B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220108-9C13-78DB-1EC3-EC197E57C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it-IT" sz="3200" dirty="0">
                <a:solidFill>
                  <a:srgbClr val="FEFFFF"/>
                </a:solidFill>
                <a:latin typeface="Century Gothic" panose="020B0502020202020204" pitchFamily="34" charset="0"/>
              </a:rPr>
              <a:t>Inter-core interference</a:t>
            </a:r>
            <a:endParaRPr lang="it-IT" sz="3200" dirty="0">
              <a:solidFill>
                <a:srgbClr val="FEFF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48F718-AF4F-40B0-B79C-35F126D46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91" y="1715269"/>
            <a:ext cx="10644940" cy="15248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it-IT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Assuming now to create an other bare metal non root cell which  tries to engrave on FPGA, for example by performing consecutive writes with processor every T ms  (e.g 5 ms)</a:t>
            </a:r>
          </a:p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it-IT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Assuming we don’t worry about problems related  to cuncurrent accesses…</a:t>
            </a:r>
          </a:p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it-IT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How do the DMA-&gt;FPGA transfers time change???</a:t>
            </a:r>
          </a:p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it-IT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How do the CPU-&gt;FPGA transfers time change???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38D0BF2-C25F-AB77-0BBD-B7D3DDF0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418" y="3251361"/>
            <a:ext cx="4605929" cy="3530995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7B994C4-932E-E818-E352-609AE454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91" y="3271765"/>
            <a:ext cx="4577535" cy="3510591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2268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CDF4BB43-C1F0-4347-9E3C-701B3AD3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A1D857-643F-0BDA-12FB-EF8C7EAD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11" y="131518"/>
            <a:ext cx="7661913" cy="506278"/>
          </a:xfrm>
        </p:spPr>
        <p:txBody>
          <a:bodyPr>
            <a:noAutofit/>
          </a:bodyPr>
          <a:lstStyle/>
          <a:p>
            <a:r>
              <a:rPr lang="it-IT" sz="2800" dirty="0"/>
              <a:t>DMA transfer with interfering cell (1)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4C62B778-DDF8-42FB-8F13-9BFB0D4F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4800E82-A206-2F9E-2C43-9D32039101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734" y="928871"/>
                <a:ext cx="5480644" cy="40448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On </a:t>
                </a:r>
                <a:r>
                  <a:rPr lang="it-IT" sz="1600" b="1" dirty="0"/>
                  <a:t>cpu_cell </a:t>
                </a:r>
                <a:r>
                  <a:rPr lang="it-IT" sz="1600" dirty="0"/>
                  <a:t>the number of CPU writes towards FPGA made every T=5 ms were gradually increased 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Totally 15 samples are collected and for every sample the </a:t>
                </a:r>
                <a:r>
                  <a:rPr lang="it-IT" sz="1600" b="1" dirty="0"/>
                  <a:t>mean</a:t>
                </a:r>
                <a:r>
                  <a:rPr lang="it-IT" sz="1600" dirty="0"/>
                  <a:t> was considered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On </a:t>
                </a:r>
                <a:r>
                  <a:rPr lang="it-IT" sz="1600" b="1" dirty="0"/>
                  <a:t>dma_cell </a:t>
                </a:r>
                <a:r>
                  <a:rPr lang="it-IT" sz="1600" dirty="0"/>
                  <a:t>it was performed the stress test to execute 20000 DMA transfers (everyone is made up of 1000 word) towards FPGA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If :</a:t>
                </a:r>
              </a:p>
              <a:p>
                <a:pPr lvl="1"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it-IT" sz="1400" b="1" i="1" dirty="0" smtClean="0">
                            <a:latin typeface="Cambria Math" panose="02040503050406030204" pitchFamily="18" charset="0"/>
                          </a:rPr>
                          <m:t>𝑫𝑴𝑨</m:t>
                        </m:r>
                      </m:sub>
                    </m:sSub>
                  </m:oMath>
                </a14:m>
                <a:r>
                  <a:rPr lang="it-IT" sz="1400" b="1" dirty="0"/>
                  <a:t>= DMA transfer time</a:t>
                </a:r>
              </a:p>
              <a:p>
                <a:pPr lvl="1"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r>
                      <a:rPr lang="it-IT" sz="1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4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b="1" dirty="0"/>
                  <a:t>= Number of CPU writes every T ms 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A simple model that describes the relationship between the two parameters is a </a:t>
                </a:r>
                <a:r>
                  <a:rPr lang="it-IT" sz="1600" b="1" dirty="0"/>
                  <a:t>linear regression model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4800E82-A206-2F9E-2C43-9D32039101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734" y="928871"/>
                <a:ext cx="5480644" cy="4044838"/>
              </a:xfrm>
              <a:blipFill>
                <a:blip r:embed="rId2"/>
                <a:stretch>
                  <a:fillRect l="-445" t="-1054" r="-12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>
            <a:extLst>
              <a:ext uri="{FF2B5EF4-FFF2-40B4-BE49-F238E27FC236}">
                <a16:creationId xmlns:a16="http://schemas.microsoft.com/office/drawing/2014/main" id="{D295173F-C7CA-BF63-C4CB-7459559F8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6" r="727"/>
          <a:stretch>
            <a:fillRect/>
          </a:stretch>
        </p:blipFill>
        <p:spPr>
          <a:xfrm>
            <a:off x="1370334" y="5885234"/>
            <a:ext cx="7499496" cy="817017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18" name="Freeform 12">
            <a:extLst>
              <a:ext uri="{FF2B5EF4-FFF2-40B4-BE49-F238E27FC236}">
                <a16:creationId xmlns:a16="http://schemas.microsoft.com/office/drawing/2014/main" id="{8E9272BA-9542-4423-AC14-949EE8674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0BEAA0-383B-E278-3FC6-01706983C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266" y="770100"/>
            <a:ext cx="5608846" cy="4206634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73D96C-AE22-ECBD-A372-CE6B5B57D42A}"/>
              </a:ext>
            </a:extLst>
          </p:cNvPr>
          <p:cNvSpPr txBox="1"/>
          <p:nvPr/>
        </p:nvSpPr>
        <p:spPr>
          <a:xfrm>
            <a:off x="3203279" y="5451815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JAILHOUSE environment</a:t>
            </a:r>
          </a:p>
        </p:txBody>
      </p:sp>
    </p:spTree>
    <p:extLst>
      <p:ext uri="{BB962C8B-B14F-4D97-AF65-F5344CB8AC3E}">
        <p14:creationId xmlns:p14="http://schemas.microsoft.com/office/powerpoint/2010/main" val="101956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92A8-6ECA-B6E1-6AE7-D300800F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DDE523B3-BD68-F98D-E7E8-8700DE5CD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A22BCA1-1980-57E6-359F-E66840AD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95" y="47226"/>
            <a:ext cx="5527490" cy="999615"/>
          </a:xfrm>
        </p:spPr>
        <p:txBody>
          <a:bodyPr>
            <a:noAutofit/>
          </a:bodyPr>
          <a:lstStyle/>
          <a:p>
            <a:r>
              <a:rPr lang="it-IT" sz="2800" dirty="0"/>
              <a:t>DMA transfer with interfering cell (2)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793CE46F-13E1-494E-004B-87D7675F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8670A3F-2F6C-FBDE-C2E3-B13F5842D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233" y="1066364"/>
                <a:ext cx="5095556" cy="209726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700" dirty="0"/>
                  <a:t>The assumptions about normality and omeschedasticity of residuals are verified as shown below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700" dirty="0"/>
                  <a:t>The confidence intervals show the two parameters are significant with </a:t>
                </a:r>
                <a14:m>
                  <m:oMath xmlns:m="http://schemas.openxmlformats.org/officeDocument/2006/math">
                    <m:r>
                      <a:rPr lang="it-IT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it-IT" sz="1700" dirty="0"/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𝑫𝑴𝑨</m:t>
                        </m:r>
                      </m:sub>
                    </m:sSub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it-IT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𝑫𝑴𝑨</m:t>
                        </m:r>
                      </m:sub>
                    </m:sSub>
                    <m:r>
                      <a:rPr lang="it-IT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it-IT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𝑫𝑴𝑨</m:t>
                        </m:r>
                      </m:sub>
                    </m:sSub>
                    <m:r>
                      <a:rPr lang="it-IT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it-IT" sz="17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8670A3F-2F6C-FBDE-C2E3-B13F5842D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233" y="1066364"/>
                <a:ext cx="5095556" cy="2097267"/>
              </a:xfrm>
              <a:blipFill>
                <a:blip r:embed="rId3"/>
                <a:stretch>
                  <a:fillRect l="-598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 12">
            <a:extLst>
              <a:ext uri="{FF2B5EF4-FFF2-40B4-BE49-F238E27FC236}">
                <a16:creationId xmlns:a16="http://schemas.microsoft.com/office/drawing/2014/main" id="{3A20A44A-7A1B-C806-CDB7-E022C59EC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9CB2D8B-BE87-1364-F218-C2965D165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25" y="3336383"/>
            <a:ext cx="4445048" cy="3266758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EF9C277-87AB-4893-7B18-07B0B461B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963" y="125047"/>
            <a:ext cx="5948697" cy="2652907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6A7376C-DB2E-C3B0-ECB9-A763CA521F21}"/>
              </a:ext>
            </a:extLst>
          </p:cNvPr>
          <p:cNvSpPr txBox="1"/>
          <p:nvPr/>
        </p:nvSpPr>
        <p:spPr>
          <a:xfrm>
            <a:off x="6096000" y="2391211"/>
            <a:ext cx="5981660" cy="367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86C6432-ED3D-D51C-4A6A-A11D2865F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882" y="3530852"/>
            <a:ext cx="6456778" cy="2977546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029F990-A827-D547-633C-C3552E0A4566}"/>
                  </a:ext>
                </a:extLst>
              </p:cNvPr>
              <p:cNvSpPr txBox="1"/>
              <p:nvPr/>
            </p:nvSpPr>
            <p:spPr>
              <a:xfrm>
                <a:off x="7571556" y="3029265"/>
                <a:ext cx="3031888" cy="30777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𝒒</m:t>
                        </m:r>
                      </m:e>
                      <m:sub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𝑫𝑴𝑨</m:t>
                        </m:r>
                      </m:sub>
                    </m:sSub>
                    <m:r>
                      <a:rPr lang="it-IT" sz="1400" b="1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= </m:t>
                    </m:r>
                    <m:r>
                      <a:rPr lang="it-IT" sz="1400" b="1" i="1" dirty="0" err="1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𝒄𝒐𝒏𝒔𝒕</m:t>
                    </m:r>
                    <m:r>
                      <a:rPr lang="it-IT" sz="14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it-IT" sz="1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 </m:t>
                        </m:r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𝒎</m:t>
                        </m:r>
                      </m:e>
                      <m:sub>
                        <m:r>
                          <a:rPr lang="it-IT" sz="1400" b="1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𝑫𝑴𝑨</m:t>
                        </m:r>
                      </m:sub>
                    </m:sSub>
                    <m:r>
                      <a:rPr lang="it-IT" sz="1400" b="1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 </m:t>
                    </m:r>
                    <m:sSub>
                      <m:sSubPr>
                        <m:ctrlP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𝒙</m:t>
                        </m:r>
                      </m:e>
                      <m:sub>
                        <m:r>
                          <a:rPr lang="it-IT" sz="1400" b="1" i="1" dirty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𝟏</m:t>
                        </m:r>
                      </m:sub>
                    </m:sSub>
                  </m:oMath>
                </a14:m>
                <a:endParaRPr lang="it-IT" sz="1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029F990-A827-D547-633C-C3552E0A4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556" y="3029265"/>
                <a:ext cx="3031888" cy="307777"/>
              </a:xfrm>
              <a:prstGeom prst="rect">
                <a:avLst/>
              </a:prstGeom>
              <a:blipFill>
                <a:blip r:embed="rId7"/>
                <a:stretch>
                  <a:fillRect b="-1272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94E4013-2AFC-07CB-6232-F76AA4EF2546}"/>
              </a:ext>
            </a:extLst>
          </p:cNvPr>
          <p:cNvCxnSpPr>
            <a:cxnSpLocks/>
            <a:stCxn id="12" idx="0"/>
            <a:endCxn id="15" idx="2"/>
          </p:cNvCxnSpPr>
          <p:nvPr/>
        </p:nvCxnSpPr>
        <p:spPr>
          <a:xfrm flipH="1" flipV="1">
            <a:off x="9086830" y="2758432"/>
            <a:ext cx="670" cy="27083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ttore a gomito 7">
            <a:extLst>
              <a:ext uri="{FF2B5EF4-FFF2-40B4-BE49-F238E27FC236}">
                <a16:creationId xmlns:a16="http://schemas.microsoft.com/office/drawing/2014/main" id="{88EC87DB-1357-3D84-006D-BFB0D89BD4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15966" y="2659295"/>
            <a:ext cx="3855590" cy="52385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04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159F-B418-28AD-A9D6-630A4896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D5D01607-F1C6-A4B2-648B-4FC1A69C0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44934B-73C3-EB8D-406A-F85E44C9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99803"/>
            <a:ext cx="7246180" cy="653729"/>
          </a:xfrm>
        </p:spPr>
        <p:txBody>
          <a:bodyPr>
            <a:normAutofit fontScale="90000"/>
          </a:bodyPr>
          <a:lstStyle/>
          <a:p>
            <a:r>
              <a:rPr lang="it-IT" dirty="0"/>
              <a:t>CPU transfer with interfering cell (1)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A94F7F2D-2EC2-347D-4BA9-F352400BF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391F820-AA15-4729-FCC1-5FD23BED85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4869" y="1210855"/>
                <a:ext cx="5132544" cy="428286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On </a:t>
                </a:r>
                <a:r>
                  <a:rPr lang="it-IT" sz="1600" b="1" dirty="0"/>
                  <a:t>cpu_cell1 </a:t>
                </a:r>
                <a:r>
                  <a:rPr lang="it-IT" sz="1600" dirty="0"/>
                  <a:t>the number of CPU writes towards FPGA made every T=5 ms were gradually increased 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Totally 15 samples are collected and for every sample the </a:t>
                </a:r>
                <a:r>
                  <a:rPr lang="it-IT" sz="1600" b="1" dirty="0"/>
                  <a:t>mean </a:t>
                </a:r>
                <a:r>
                  <a:rPr lang="it-IT" sz="1600" dirty="0"/>
                  <a:t>was considered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On </a:t>
                </a:r>
                <a:r>
                  <a:rPr lang="it-IT" sz="1600" b="1" dirty="0"/>
                  <a:t>cpu_cell2 </a:t>
                </a:r>
                <a:r>
                  <a:rPr lang="it-IT" sz="1600" dirty="0"/>
                  <a:t>there were performed 40000 CPU transfers :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Even in this case we define :</a:t>
                </a:r>
              </a:p>
              <a:p>
                <a:pPr lvl="1"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it-IT" sz="1400" b="1" i="1" dirty="0" smtClean="0">
                            <a:latin typeface="Cambria Math" panose="02040503050406030204" pitchFamily="18" charset="0"/>
                          </a:rPr>
                          <m:t>𝑪𝑷𝑼</m:t>
                        </m:r>
                      </m:sub>
                    </m:sSub>
                  </m:oMath>
                </a14:m>
                <a:r>
                  <a:rPr lang="it-IT" sz="1400" b="1" dirty="0"/>
                  <a:t> = CPU transfer time</a:t>
                </a:r>
              </a:p>
              <a:p>
                <a:pPr lvl="1"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r>
                      <a:rPr lang="it-IT" sz="1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b="1" dirty="0"/>
                  <a:t>= Number of CPU writes every T ms </a:t>
                </a:r>
                <a:endParaRPr lang="it-IT" b="1" dirty="0"/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en-US" sz="1600" dirty="0"/>
                  <a:t>Here too, a linear trend is visible and the assumptions about linear regression model are verified</a:t>
                </a:r>
                <a:endParaRPr lang="it-IT" sz="1600" b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391F820-AA15-4729-FCC1-5FD23BED85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4869" y="1210855"/>
                <a:ext cx="5132544" cy="4282869"/>
              </a:xfrm>
              <a:blipFill>
                <a:blip r:embed="rId3"/>
                <a:stretch>
                  <a:fillRect l="-594" t="-997" r="-8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 12">
            <a:extLst>
              <a:ext uri="{FF2B5EF4-FFF2-40B4-BE49-F238E27FC236}">
                <a16:creationId xmlns:a16="http://schemas.microsoft.com/office/drawing/2014/main" id="{DD953B67-DE5A-AD2D-1A99-25C606787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ADCEF56-F18A-9518-4673-B32BFC525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970" y="997844"/>
            <a:ext cx="5501191" cy="4282869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3173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B364-65F1-4FA0-5D7E-B0960636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8B59912A-D77F-BC2A-3F9A-540501E79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85D51D6-EE74-FB34-D7BC-50BE2F1A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55" y="120245"/>
            <a:ext cx="5218051" cy="909184"/>
          </a:xfrm>
        </p:spPr>
        <p:txBody>
          <a:bodyPr>
            <a:noAutofit/>
          </a:bodyPr>
          <a:lstStyle/>
          <a:p>
            <a:r>
              <a:rPr lang="it-IT" sz="2800" dirty="0"/>
              <a:t>CPU transfer with interfering cell (2)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B74FC5E4-B844-EE4A-16CA-084937647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6E56192F-BDB8-CA9E-F461-F9190582C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6F3A4043-6860-B2D6-2046-1F257574B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7561" y="1062845"/>
                <a:ext cx="5218051" cy="16393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The verification of assumptions about linear regression are shown below</a:t>
                </a:r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:r>
                  <a:rPr lang="it-IT" sz="1600" dirty="0"/>
                  <a:t>The confidence intervals of coefficients show  that they are both significant with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it-IT" sz="1600" dirty="0"/>
              </a:p>
              <a:p>
                <a:pPr>
                  <a:lnSpc>
                    <a:spcPct val="90000"/>
                  </a:lnSpc>
                  <a:buClr>
                    <a:srgbClr val="FE3535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𝑪𝑷𝑼</m:t>
                        </m:r>
                      </m:sub>
                    </m:sSub>
                    <m:r>
                      <a:rPr lang="it-IT" sz="16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it-IT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 dirty="0" smtClean="0">
                            <a:latin typeface="Cambria Math" panose="02040503050406030204" pitchFamily="18" charset="0"/>
                          </a:rPr>
                          <m:t>𝑪𝑷𝑼</m:t>
                        </m:r>
                      </m:sub>
                    </m:sSub>
                    <m:r>
                      <a:rPr lang="it-IT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𝑪𝑷𝑼</m:t>
                        </m:r>
                      </m:sub>
                    </m:sSub>
                    <m:r>
                      <a:rPr lang="it-IT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it-IT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it-IT" sz="1600" dirty="0"/>
                  <a:t> </a:t>
                </a:r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6F3A4043-6860-B2D6-2046-1F257574B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61" y="1062845"/>
                <a:ext cx="5218051" cy="1639342"/>
              </a:xfrm>
              <a:prstGeom prst="rect">
                <a:avLst/>
              </a:prstGeom>
              <a:blipFill>
                <a:blip r:embed="rId3"/>
                <a:stretch>
                  <a:fillRect l="-584" t="-26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2C1E845B-033F-B572-7526-0AB31E06B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055" y="3171580"/>
            <a:ext cx="4478196" cy="336403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9AE5613-4EC1-4E4F-E269-A636D9177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295" y="262855"/>
            <a:ext cx="5507565" cy="251816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664FB1D-2895-B5DA-AF4B-8CE28B4AF64B}"/>
              </a:ext>
            </a:extLst>
          </p:cNvPr>
          <p:cNvSpPr txBox="1"/>
          <p:nvPr/>
        </p:nvSpPr>
        <p:spPr>
          <a:xfrm>
            <a:off x="6579295" y="2335434"/>
            <a:ext cx="534681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56BE147-91A0-1B9F-5E4C-A054EF5B1C1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482502" y="2335434"/>
            <a:ext cx="3096793" cy="18466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Immagine 3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3196503-C1D0-B40C-DD22-03BB5FD260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235" y="3213902"/>
            <a:ext cx="6387072" cy="310045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49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strazione 3D di un cubo rosso e nero">
            <a:extLst>
              <a:ext uri="{FF2B5EF4-FFF2-40B4-BE49-F238E27FC236}">
                <a16:creationId xmlns:a16="http://schemas.microsoft.com/office/drawing/2014/main" id="{FAE836AA-8E11-E6EE-D4D9-AA98F56E7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91" b="1477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5" name="Freeform 5">
            <a:extLst>
              <a:ext uri="{FF2B5EF4-FFF2-40B4-BE49-F238E27FC236}">
                <a16:creationId xmlns:a16="http://schemas.microsoft.com/office/drawing/2014/main" id="{FDAA37B6-540E-4805-AC2B-B91E6D6D1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0391775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35A548-25B3-90EA-BD36-7AC78487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26" y="295793"/>
            <a:ext cx="7128933" cy="1278467"/>
          </a:xfrm>
        </p:spPr>
        <p:txBody>
          <a:bodyPr anchor="ctr">
            <a:normAutofit/>
          </a:bodyPr>
          <a:lstStyle/>
          <a:p>
            <a:r>
              <a:rPr lang="it-IT" sz="3200" dirty="0">
                <a:solidFill>
                  <a:srgbClr val="FEFFFF"/>
                </a:solidFill>
              </a:rPr>
              <a:t>Conclusions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7C7FC4-6DCA-705F-2DD8-C787B804B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26" y="1592094"/>
            <a:ext cx="8204436" cy="3474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EFFFF"/>
                </a:solidFill>
              </a:rPr>
              <a:t>The proposal described in this work should be considered a </a:t>
            </a:r>
            <a:r>
              <a:rPr lang="en-US" sz="1400" b="1" dirty="0">
                <a:solidFill>
                  <a:srgbClr val="FEFFFF"/>
                </a:solidFill>
              </a:rPr>
              <a:t>first implementation</a:t>
            </a:r>
            <a:r>
              <a:rPr lang="en-US" sz="1400" dirty="0">
                <a:solidFill>
                  <a:srgbClr val="FEFFFF"/>
                </a:solidFill>
              </a:rPr>
              <a:t>, susceptible to subsequent optimizations and improvements</a:t>
            </a:r>
            <a:endParaRPr lang="it-IT" sz="1400" dirty="0">
              <a:solidFill>
                <a:srgbClr val="FEFFFF"/>
              </a:solidFill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FEFFFF"/>
                </a:solidFill>
              </a:rPr>
              <a:t>From the previous analyses it can be seen that :</a:t>
            </a:r>
          </a:p>
          <a:p>
            <a:r>
              <a:rPr lang="it-IT" sz="1400" dirty="0">
                <a:solidFill>
                  <a:srgbClr val="FEFFFF"/>
                </a:solidFill>
              </a:rPr>
              <a:t>The Interference caused by an other cell doesn’t make the DMA/CPU transfer time much worse.</a:t>
            </a:r>
          </a:p>
          <a:p>
            <a:r>
              <a:rPr lang="it-IT" sz="1400" dirty="0">
                <a:solidFill>
                  <a:srgbClr val="FEFFFF"/>
                </a:solidFill>
              </a:rPr>
              <a:t>Going through FPGA instead of accessing directly in memory with DMA or Processor, causes the </a:t>
            </a:r>
            <a:r>
              <a:rPr lang="en-US" sz="1400" dirty="0">
                <a:solidFill>
                  <a:srgbClr val="FEFFFF"/>
                </a:solidFill>
              </a:rPr>
              <a:t>time to grow faster with a slope 9 times larger (in case of DMA this result is validated when each transfer consists of 1000 word)</a:t>
            </a:r>
            <a:r>
              <a:rPr lang="it-IT" sz="1400" dirty="0">
                <a:solidFill>
                  <a:srgbClr val="FEFFFF"/>
                </a:solidFill>
              </a:rPr>
              <a:t>.</a:t>
            </a:r>
          </a:p>
          <a:p>
            <a:pPr lvl="1"/>
            <a:r>
              <a:rPr lang="it-IT" sz="1400" dirty="0">
                <a:solidFill>
                  <a:srgbClr val="FEFFFF"/>
                </a:solidFill>
              </a:rPr>
              <a:t>Reasons of this worsening are multiple:</a:t>
            </a:r>
          </a:p>
          <a:p>
            <a:pPr lvl="2"/>
            <a:r>
              <a:rPr lang="it-IT" sz="1200" dirty="0">
                <a:solidFill>
                  <a:srgbClr val="FEFFFF"/>
                </a:solidFill>
              </a:rPr>
              <a:t>Longer path through FPGA</a:t>
            </a:r>
          </a:p>
          <a:p>
            <a:pPr lvl="2"/>
            <a:r>
              <a:rPr lang="it-IT" sz="1200" dirty="0">
                <a:solidFill>
                  <a:srgbClr val="FEFFFF"/>
                </a:solidFill>
              </a:rPr>
              <a:t>PS Memory Optimizations are no longer valid on PL side</a:t>
            </a:r>
          </a:p>
          <a:p>
            <a:pPr lvl="2"/>
            <a:r>
              <a:rPr lang="it-IT" sz="1200" dirty="0">
                <a:solidFill>
                  <a:srgbClr val="FEFFFF"/>
                </a:solidFill>
              </a:rPr>
              <a:t>Clock domain crossing latency</a:t>
            </a:r>
          </a:p>
        </p:txBody>
      </p:sp>
    </p:spTree>
    <p:extLst>
      <p:ext uri="{BB962C8B-B14F-4D97-AF65-F5344CB8AC3E}">
        <p14:creationId xmlns:p14="http://schemas.microsoft.com/office/powerpoint/2010/main" val="6665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6D262-FBCA-581E-1C5A-85BC6DD4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Palazzo degli uffici con grafici azionari sovrapposti">
            <a:extLst>
              <a:ext uri="{FF2B5EF4-FFF2-40B4-BE49-F238E27FC236}">
                <a16:creationId xmlns:a16="http://schemas.microsoft.com/office/drawing/2014/main" id="{7544BC7F-D74E-3383-1DBB-7EDE31747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1" r="3703" b="7165"/>
          <a:stretch>
            <a:fillRect/>
          </a:stretch>
        </p:blipFill>
        <p:spPr>
          <a:xfrm>
            <a:off x="20" y="9738"/>
            <a:ext cx="12191980" cy="6857990"/>
          </a:xfrm>
          <a:prstGeom prst="rect">
            <a:avLst/>
          </a:prstGeom>
        </p:spPr>
      </p:pic>
      <p:sp>
        <p:nvSpPr>
          <p:cNvPr id="93" name="Freeform 5">
            <a:extLst>
              <a:ext uri="{FF2B5EF4-FFF2-40B4-BE49-F238E27FC236}">
                <a16:creationId xmlns:a16="http://schemas.microsoft.com/office/drawing/2014/main" id="{FDAA37B6-540E-4805-AC2B-B91E6D6D1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0391775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9BFDE83-7D7F-EF23-7A9A-4D04DD8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626533"/>
            <a:ext cx="7128933" cy="1278467"/>
          </a:xfrm>
        </p:spPr>
        <p:txBody>
          <a:bodyPr anchor="ctr">
            <a:normAutofit/>
          </a:bodyPr>
          <a:lstStyle/>
          <a:p>
            <a:r>
              <a:rPr lang="it-IT" sz="3200" dirty="0">
                <a:solidFill>
                  <a:srgbClr val="FEFFFF"/>
                </a:solidFill>
              </a:rPr>
              <a:t>Future Developments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0E5D33-99C1-4ADE-92E9-262D2E7F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2007139"/>
            <a:ext cx="7493000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rgbClr val="FEFFFF"/>
                </a:solidFill>
              </a:rPr>
              <a:t>Some possible future works are :</a:t>
            </a:r>
          </a:p>
          <a:p>
            <a:r>
              <a:rPr lang="it-IT" sz="1600" dirty="0">
                <a:solidFill>
                  <a:srgbClr val="FEFFFF"/>
                </a:solidFill>
              </a:rPr>
              <a:t>Comparision with software solutions in terms of overhead</a:t>
            </a:r>
          </a:p>
          <a:p>
            <a:r>
              <a:rPr lang="it-IT" sz="1600" dirty="0">
                <a:solidFill>
                  <a:srgbClr val="FEFFFF"/>
                </a:solidFill>
              </a:rPr>
              <a:t>Extend PAC_MAC module with additional features</a:t>
            </a:r>
            <a:endParaRPr lang="en-US" sz="1600" dirty="0">
              <a:solidFill>
                <a:srgbClr val="FEFFFF"/>
              </a:solidFill>
            </a:endParaRPr>
          </a:p>
          <a:p>
            <a:r>
              <a:rPr lang="en-US" sz="1600" dirty="0">
                <a:solidFill>
                  <a:srgbClr val="FEFFFF"/>
                </a:solidFill>
              </a:rPr>
              <a:t>…</a:t>
            </a:r>
          </a:p>
          <a:p>
            <a:r>
              <a:rPr lang="en-US" sz="1600" dirty="0">
                <a:solidFill>
                  <a:srgbClr val="FEFFFF"/>
                </a:solidFill>
              </a:rPr>
              <a:t>Happy to receive any suggestions for new ideas</a:t>
            </a:r>
          </a:p>
          <a:p>
            <a:pPr marL="0" indent="0">
              <a:buNone/>
            </a:pPr>
            <a:endParaRPr lang="en-US" sz="1600" dirty="0">
              <a:solidFill>
                <a:srgbClr val="FEFFFF"/>
              </a:solidFill>
            </a:endParaRPr>
          </a:p>
          <a:p>
            <a:endParaRPr lang="it-IT" sz="1600" dirty="0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12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3EFA1F6-3095-D2AD-C76A-7ECA3778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263" y="624110"/>
            <a:ext cx="8329312" cy="774916"/>
          </a:xfrm>
        </p:spPr>
        <p:txBody>
          <a:bodyPr>
            <a:normAutofit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" y="228600"/>
            <a:ext cx="2969842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6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36627E-6000-3EEC-2930-EBB30C83D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1670521"/>
            <a:ext cx="8661247" cy="3534862"/>
          </a:xfrm>
        </p:spPr>
        <p:txBody>
          <a:bodyPr>
            <a:normAutofit lnSpcReduction="10000"/>
          </a:bodyPr>
          <a:lstStyle/>
          <a:p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Siemens, Github Repository, “Jailhouse Documentation”.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Xilinx, Inc., "Zynq UltraScale+ Device Technical Reference Manual (UG1085)", March 2025.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it-IT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J. Peixoto</a:t>
            </a:r>
            <a:r>
              <a:rPr lang="pt-BR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, J. Martins, D. Cerdeira, S. Pinto</a:t>
            </a:r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, “BiRtIO: </a:t>
            </a:r>
            <a:r>
              <a:rPr lang="en-US" sz="1600" u="sng" dirty="0" err="1">
                <a:latin typeface="Verdana" panose="020B0604030504040204" pitchFamily="34" charset="0"/>
                <a:ea typeface="Verdana" panose="020B0604030504040204" pitchFamily="34" charset="0"/>
              </a:rPr>
              <a:t>VirtIO</a:t>
            </a:r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 for Real-Time Network Interface Sharing on the Bao Hypervisor”, Dec 2024.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Xilinx, Inc., "ZCU104 Board User Guide (UG1267)", October 2018.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F. Pizzo, "FPGA-Based Memory Traffic Analysis", June 2023.</a:t>
            </a:r>
          </a:p>
          <a:p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F. Pizzo, Github, “Jailhouse on ZCU104”, Oct 2024.</a:t>
            </a:r>
          </a:p>
          <a:p>
            <a:r>
              <a:rPr lang="en-US" sz="1600" u="sng" dirty="0">
                <a:latin typeface="Verdana" panose="020B0604030504040204" pitchFamily="34" charset="0"/>
                <a:ea typeface="Verdana" panose="020B0604030504040204" pitchFamily="34" charset="0"/>
              </a:rPr>
              <a:t>ARM, “AXI protocol overview”.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ZDMA Module,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https://docs.amd.com/r/en-US/ug1087-zynq-ultrascale-registers/ZDMA-Module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it-IT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etro opaco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3.xml><?xml version="1.0" encoding="utf-8"?>
<a:theme xmlns:a="http://schemas.openxmlformats.org/drawingml/2006/main" name="1_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ilievo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4.xml><?xml version="1.0" encoding="utf-8"?>
<a:theme xmlns:a="http://schemas.openxmlformats.org/drawingml/2006/main" name="1_Tema di Office">
  <a:themeElements>
    <a:clrScheme name="Giallo arancion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tro smerigliat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2_Filo">
  <a:themeElements>
    <a:clrScheme name="Filo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4093</TotalTime>
  <Words>3046</Words>
  <Application>Microsoft Office PowerPoint</Application>
  <PresentationFormat>Widescreen</PresentationFormat>
  <Paragraphs>329</Paragraphs>
  <Slides>38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38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Cambria Math</vt:lpstr>
      <vt:lpstr>Century Gothic</vt:lpstr>
      <vt:lpstr>Courier New</vt:lpstr>
      <vt:lpstr>Verdana</vt:lpstr>
      <vt:lpstr>Wingdings</vt:lpstr>
      <vt:lpstr>Wingdings 3</vt:lpstr>
      <vt:lpstr>Tema di Office</vt:lpstr>
      <vt:lpstr>Filo</vt:lpstr>
      <vt:lpstr>1_Filo</vt:lpstr>
      <vt:lpstr>1_Tema di Office</vt:lpstr>
      <vt:lpstr>2_Filo</vt:lpstr>
      <vt:lpstr>PAC-MAC : Fine Grained Memory Access Control for Inter-VM Communication</vt:lpstr>
      <vt:lpstr>Short Summary</vt:lpstr>
      <vt:lpstr>VIRTIO limitations</vt:lpstr>
      <vt:lpstr>Software solutions (1)</vt:lpstr>
      <vt:lpstr>Software solutions (2)</vt:lpstr>
      <vt:lpstr>Project Proposal</vt:lpstr>
      <vt:lpstr>High Level Architecture</vt:lpstr>
      <vt:lpstr>FPD-DMA features</vt:lpstr>
      <vt:lpstr>FPD-DMA &amp; Cache management</vt:lpstr>
      <vt:lpstr> Jailhouse configuration (1) </vt:lpstr>
      <vt:lpstr>Jailhouse configuration (2)</vt:lpstr>
      <vt:lpstr>Design FPGA</vt:lpstr>
      <vt:lpstr>ATL (Address Translation Logic)</vt:lpstr>
      <vt:lpstr>PAC_MAC</vt:lpstr>
      <vt:lpstr>FILTER</vt:lpstr>
      <vt:lpstr>SINK (1)</vt:lpstr>
      <vt:lpstr>SINK (2)</vt:lpstr>
      <vt:lpstr>Block Design</vt:lpstr>
      <vt:lpstr>Functional Analysis (1)</vt:lpstr>
      <vt:lpstr>Functional Analysis (2)</vt:lpstr>
      <vt:lpstr>Testing</vt:lpstr>
      <vt:lpstr>Test Cases(1)</vt:lpstr>
      <vt:lpstr>Test Cases (2)</vt:lpstr>
      <vt:lpstr>System Analysis</vt:lpstr>
      <vt:lpstr>DOE (1)</vt:lpstr>
      <vt:lpstr>DOE (2)</vt:lpstr>
      <vt:lpstr>DOE (3)</vt:lpstr>
      <vt:lpstr>Time analysis</vt:lpstr>
      <vt:lpstr>DMA-&gt;FPGA-&gt;MEM VS DMA-&gt;MEM</vt:lpstr>
      <vt:lpstr>CPU-&gt;FPGA-&gt;MEM VS CPU-&gt;MEM</vt:lpstr>
      <vt:lpstr>Inter-core interference</vt:lpstr>
      <vt:lpstr>DMA transfer with interfering cell (1)</vt:lpstr>
      <vt:lpstr>DMA transfer with interfering cell (2)</vt:lpstr>
      <vt:lpstr>CPU transfer with interfering cell (1)</vt:lpstr>
      <vt:lpstr>CPU transfer with interfering cell (2)</vt:lpstr>
      <vt:lpstr>Conclusions</vt:lpstr>
      <vt:lpstr>Future Developments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ALFIERI</dc:creator>
  <cp:lastModifiedBy>GIUSEPPE ALFIERI</cp:lastModifiedBy>
  <cp:revision>1018</cp:revision>
  <dcterms:created xsi:type="dcterms:W3CDTF">2025-07-30T09:50:45Z</dcterms:created>
  <dcterms:modified xsi:type="dcterms:W3CDTF">2025-09-10T08:12:27Z</dcterms:modified>
</cp:coreProperties>
</file>